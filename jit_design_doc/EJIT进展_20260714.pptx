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0" cy="5029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D3748"/>
                </a:solidFill>
                <a:latin typeface="微软雅黑"/>
              </a:rPr>
              <a:t>EJIT 整体架构与完成情况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EmbeddedJIT · 时间窗常量 + 运行时特化 · 2026 上半年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04672"/>
            <a:ext cx="12191695" cy="13716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7772400" cy="38404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68680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① 范式: 时间窗常量 + 运行时特化</a:t>
            </a:r>
            <a:r>
              <a:rPr sz="1200" b="1">
                <a:solidFill>
                  <a:srgbClr val="FFFFFF"/>
                </a:solidFill>
                <a:latin typeface="微软雅黑"/>
              </a:rPr>
              <a:t>  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252728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8C8C8C"/>
                </a:solidFill>
                <a:latin typeface="微软雅黑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7772400" cy="45720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源码层  </a:t>
            </a:r>
            <a:r>
              <a:rPr sz="1150" b="1">
                <a:solidFill>
                  <a:srgbClr val="FFFFFF"/>
                </a:solidFill>
                <a:latin typeface="微软雅黑"/>
              </a:rPr>
              <a:t>② Clang 6 属性标注面 </a:t>
            </a:r>
            <a:r>
              <a:rPr sz="950" b="0">
                <a:solidFill>
                  <a:srgbClr val="CCCCCC"/>
                </a:solidFill>
                <a:latin typeface="微软雅黑"/>
              </a:rPr>
              <a:t>(ejit_entry/_period/_period_arr/_period_arr_ind/_may_const/_period_lc)</a:t>
            </a:r>
            <a:r>
              <a:rPr sz="1200" b="1">
                <a:solidFill>
                  <a:srgbClr val="FFFFFF"/>
                </a:solidFill>
                <a:latin typeface="微软雅黑"/>
              </a:rPr>
              <a:t> 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874520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8C8C8C"/>
                </a:solidFill>
                <a:latin typeface="微软雅黑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77724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075688"/>
            <a:ext cx="64008" cy="89611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112264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微软雅黑"/>
              </a:rPr>
              <a:t>AOT 编译期 (两阶段)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386584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O2/O3前:  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③ 两阶段bitcode提取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   ④ may_const双重保留+预优化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   ⑤ 协调器PASS5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2633472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O2/O3后:  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⑥ Period注册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   ⑦ 单函数Wrapper+稠密索引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   ⑧ 生命周期护栏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0">
                <a:solidFill>
                  <a:srgbClr val="595959"/>
                </a:solidFill>
                <a:latin typeface="微软雅黑"/>
              </a:rPr>
              <a:t>   ⑨ 双轨注册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971800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8C8C8C"/>
                </a:solidFill>
                <a:latin typeface="微软雅黑"/>
              </a:rPr>
              <a:t>▼ @__ejit_bitcode + 弱符号表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72968"/>
            <a:ext cx="77724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172968"/>
            <a:ext cx="64008" cy="98755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3209544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微软雅黑"/>
              </a:rPr>
              <a:t>运行时特化引擎</a:t>
            </a:r>
            <a:r>
              <a:rPr sz="950" b="0">
                <a:solidFill>
                  <a:srgbClr val="8C8C8C"/>
                </a:solidFill>
                <a:latin typeface="微软雅黑"/>
              </a:rPr>
              <a:t>  业务调用 → wrapper jit_entry → 命中缓存跳转 / 失败 fallback AOT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⑩ 缓存LRU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→ ⑪ 调度器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→ ⑫ Bitcode加载器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→ ⑬ 优化流水线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3749040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→ ⑭ PASS6 结构体字段常量替换</a:t>
            </a:r>
            <a:r>
              <a:rPr sz="1000" b="1">
                <a:solidFill>
                  <a:srgbClr val="2C5282"/>
                </a:solidFill>
                <a:latin typeface="微软雅黑"/>
              </a:rPr>
              <a:t> ★核心价值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→ ⑮ OrcJIT(LLJIT+JITLink)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3959352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代码内存: ⑯ EJitCodePool (SRE 4K内存池, 可选启用)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 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160520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8C8C8C"/>
                </a:solidFill>
                <a:latin typeface="微软雅黑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325112"/>
            <a:ext cx="7772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325112"/>
            <a:ext cx="64008" cy="71323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4361688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微软雅黑"/>
              </a:rPr>
              <a:t>异步编译调度 / Taskpool</a:t>
            </a:r>
            <a:r>
              <a:rPr sz="950" b="0">
                <a:solidFill>
                  <a:srgbClr val="595959"/>
                </a:solidFill>
                <a:latin typeface="微软雅黑"/>
              </a:rPr>
              <a:t>  (当前分支重点)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" y="4654296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⑰ 单worker调度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 ⑱ 跨核共享单worker</a:t>
            </a:r>
            <a:r>
              <a:rPr sz="1000" b="1">
                <a:solidFill>
                  <a:srgbClr val="DD6B20"/>
                </a:solidFill>
                <a:latin typeface="微软雅黑"/>
              </a:rPr>
              <a:t>△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 ⑲ 无锁队列+去重+分桶缓存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 ⑳ version失效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184648"/>
            <a:ext cx="77724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5184648"/>
            <a:ext cx="64008" cy="89611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5221224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微软雅黑"/>
              </a:rPr>
              <a:t>横切支柱 (贯穿所有层)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5504688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㉑ 稠密槽注册表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 ㉒ 注册暂存+冻结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 ㉓ SRE平台抽象</a:t>
            </a:r>
            <a:r>
              <a:rPr sz="1000" b="1">
                <a:solidFill>
                  <a:srgbClr val="DD6B20"/>
                </a:solidFill>
                <a:latin typeface="微软雅黑"/>
              </a:rPr>
              <a:t>△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   ㉔ 并发原语层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5760720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㉕ LLVM裁剪三层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8C8C8C"/>
                </a:solidFill>
                <a:latin typeface="微软雅黑"/>
              </a:rPr>
              <a:t>  (53.a 117MB→单ejit.o 32MB)   </a:t>
            </a:r>
            <a:r>
              <a:rPr sz="1000" b="1">
                <a:solidFill>
                  <a:srgbClr val="2D3748"/>
                </a:solidFill>
                <a:latin typeface="微软雅黑"/>
              </a:rPr>
              <a:t>㉖ BareMetal裸核</a:t>
            </a:r>
            <a:r>
              <a:rPr sz="10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00" b="0">
                <a:solidFill>
                  <a:srgbClr val="8C8C8C"/>
                </a:solidFill>
                <a:latin typeface="微软雅黑"/>
              </a:rPr>
              <a:t>  (no-op头+POSIX桩)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868680"/>
            <a:ext cx="3657600" cy="384048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868680"/>
            <a:ext cx="3657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完成情况统计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344168"/>
            <a:ext cx="3657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1344168"/>
            <a:ext cx="64008" cy="777240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1399032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3748"/>
                </a:solidFill>
                <a:latin typeface="微软雅黑"/>
              </a:rPr>
              <a:t>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1453896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8A16F"/>
                </a:solidFill>
                <a:latin typeface="微软雅黑"/>
              </a:rPr>
              <a:t>✓ 已实现使用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176479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代码完成并接入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2212848"/>
            <a:ext cx="3657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2212848"/>
            <a:ext cx="64008" cy="777240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2267712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D3748"/>
                </a:solidFill>
                <a:latin typeface="微软雅黑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2322576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D6B20"/>
                </a:solidFill>
                <a:latin typeface="微软雅黑"/>
              </a:rPr>
              <a:t>△ 代码完成待真机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263347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</a:rPr>
              <a:t>待 aarch64 SRE多核验证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081528"/>
            <a:ext cx="3657600" cy="45720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60" y="3081528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26 个技术点  ·  覆盖 6 个域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363016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  <a:latin typeface="微软雅黑"/>
              </a:rPr>
              <a:t>▎工作量数据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39502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9328" y="39502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90.2K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39502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全部增量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04119" y="39502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13847" y="39502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71.0K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39" y="39502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代码增量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44074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39328" y="44074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44.6K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9720" y="44074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测试/验证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104119" y="44074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13847" y="44074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773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64239" y="44074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分支提交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48646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39328" y="48646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9720" y="48646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设计文档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04119" y="48646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13847" y="48646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aarch64大端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64239" y="48646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SRE裸核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0" y="53218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39328" y="53218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6+6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89720" y="53218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Clang属性与Pass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104119" y="5321808"/>
            <a:ext cx="1783080" cy="41148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213847" y="5321808"/>
            <a:ext cx="960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C5282"/>
                </a:solidFill>
                <a:latin typeface="微软雅黑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64239" y="5321808"/>
            <a:ext cx="8046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编译模式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88720" y="6729984"/>
            <a:ext cx="9784080" cy="32004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179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项目立项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05.09</a:t>
            </a:r>
          </a:p>
        </p:txBody>
      </p:sp>
      <p:sp>
        <p:nvSpPr>
          <p:cNvPr id="77" name="Oval 76"/>
          <p:cNvSpPr/>
          <p:nvPr/>
        </p:nvSpPr>
        <p:spPr>
          <a:xfrm>
            <a:off x="113842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43713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设计文档首版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3830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05.15</a:t>
            </a:r>
          </a:p>
        </p:txBody>
      </p:sp>
      <p:sp>
        <p:nvSpPr>
          <p:cNvPr id="80" name="Oval 79"/>
          <p:cNvSpPr/>
          <p:nvPr/>
        </p:nvSpPr>
        <p:spPr>
          <a:xfrm>
            <a:off x="195376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25247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AOT pass主体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5364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05.20</a:t>
            </a:r>
          </a:p>
        </p:txBody>
      </p:sp>
      <p:sp>
        <p:nvSpPr>
          <p:cNvPr id="83" name="Oval 82"/>
          <p:cNvSpPr/>
          <p:nvPr/>
        </p:nvSpPr>
        <p:spPr>
          <a:xfrm>
            <a:off x="276910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06781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运行时特化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6898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05.25</a:t>
            </a:r>
          </a:p>
        </p:txBody>
      </p:sp>
      <p:sp>
        <p:nvSpPr>
          <p:cNvPr id="86" name="Oval 85"/>
          <p:cNvSpPr/>
          <p:nvPr/>
        </p:nvSpPr>
        <p:spPr>
          <a:xfrm>
            <a:off x="358444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88315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aarch64 bare-metal裁剪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8432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06.10</a:t>
            </a:r>
          </a:p>
        </p:txBody>
      </p:sp>
      <p:sp>
        <p:nvSpPr>
          <p:cNvPr id="89" name="Oval 88"/>
          <p:cNvSpPr/>
          <p:nvPr/>
        </p:nvSpPr>
        <p:spPr>
          <a:xfrm>
            <a:off x="439978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69849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SRE code pool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9966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06.15</a:t>
            </a:r>
          </a:p>
        </p:txBody>
      </p:sp>
      <p:sp>
        <p:nvSpPr>
          <p:cNvPr id="92" name="Oval 91"/>
          <p:cNvSpPr/>
          <p:nvPr/>
        </p:nvSpPr>
        <p:spPr>
          <a:xfrm>
            <a:off x="521512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51383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demo打通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71500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06.16</a:t>
            </a:r>
          </a:p>
        </p:txBody>
      </p:sp>
      <p:sp>
        <p:nvSpPr>
          <p:cNvPr id="95" name="Oval 94"/>
          <p:cNvSpPr/>
          <p:nvPr/>
        </p:nvSpPr>
        <p:spPr>
          <a:xfrm>
            <a:off x="603046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2917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4K内存池+taskpool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3034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06.18</a:t>
            </a:r>
          </a:p>
        </p:txBody>
      </p:sp>
      <p:sp>
        <p:nvSpPr>
          <p:cNvPr id="98" name="Oval 97"/>
          <p:cNvSpPr/>
          <p:nvPr/>
        </p:nvSpPr>
        <p:spPr>
          <a:xfrm>
            <a:off x="684580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14451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跨核共享worker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4568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06.27</a:t>
            </a:r>
          </a:p>
        </p:txBody>
      </p:sp>
      <p:sp>
        <p:nvSpPr>
          <p:cNvPr id="101" name="Oval 100"/>
          <p:cNvSpPr/>
          <p:nvPr/>
        </p:nvSpPr>
        <p:spPr>
          <a:xfrm>
            <a:off x="766114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95985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在线PGO 设计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16102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07.08</a:t>
            </a:r>
          </a:p>
        </p:txBody>
      </p:sp>
      <p:sp>
        <p:nvSpPr>
          <p:cNvPr id="104" name="Oval 103"/>
          <p:cNvSpPr/>
          <p:nvPr/>
        </p:nvSpPr>
        <p:spPr>
          <a:xfrm>
            <a:off x="847648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77519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PGO P0闭环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7636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07.11</a:t>
            </a:r>
          </a:p>
        </p:txBody>
      </p:sp>
      <p:sp>
        <p:nvSpPr>
          <p:cNvPr id="107" name="Oval 106"/>
          <p:cNvSpPr/>
          <p:nvPr/>
        </p:nvSpPr>
        <p:spPr>
          <a:xfrm>
            <a:off x="929182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59053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PGO 阶段1-3a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9170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07.12</a:t>
            </a:r>
          </a:p>
        </p:txBody>
      </p:sp>
      <p:sp>
        <p:nvSpPr>
          <p:cNvPr id="110" name="Oval 109"/>
          <p:cNvSpPr/>
          <p:nvPr/>
        </p:nvSpPr>
        <p:spPr>
          <a:xfrm>
            <a:off x="1010716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405872" y="6126480"/>
            <a:ext cx="1133856" cy="274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800" b="1">
                <a:solidFill>
                  <a:srgbClr val="2D3748"/>
                </a:solidFill>
                <a:latin typeface="微软雅黑"/>
              </a:rPr>
              <a:t>共享PGO触发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607040" y="6419088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07.14</a:t>
            </a:r>
          </a:p>
        </p:txBody>
      </p:sp>
      <p:sp>
        <p:nvSpPr>
          <p:cNvPr id="113" name="Oval 112"/>
          <p:cNvSpPr/>
          <p:nvPr/>
        </p:nvSpPr>
        <p:spPr>
          <a:xfrm>
            <a:off x="10922508" y="6693408"/>
            <a:ext cx="100584" cy="100584"/>
          </a:xfrm>
          <a:prstGeom prst="ellipse">
            <a:avLst/>
          </a:prstGeom>
          <a:solidFill>
            <a:srgbClr val="2C528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0" cy="5029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D3748"/>
                </a:solidFill>
                <a:latin typeface="微软雅黑"/>
              </a:rPr>
              <a:t>EJIT 详细技术项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26 个技术点 · 6 个域 · 实现状态 · 关键设计决策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04672"/>
            <a:ext cx="12191695" cy="13716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384048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960120"/>
            <a:ext cx="3840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960120"/>
            <a:ext cx="3063240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3063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技术点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21608" y="960120"/>
            <a:ext cx="777240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960120"/>
            <a:ext cx="777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8848" y="960120"/>
            <a:ext cx="566928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960120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状态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5776" y="960120"/>
            <a:ext cx="6446520" cy="329184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776" y="960120"/>
            <a:ext cx="6446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关键设计决策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289304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1289304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21608" y="1289304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98848" y="1289304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65776" y="1289304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128930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128930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时间窗常量+运行时特化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1608" y="128930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C5282"/>
                </a:solidFill>
                <a:latin typeface="微软雅黑"/>
              </a:rPr>
              <a:t>全局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08576" y="131216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131216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1496" y="128930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立身之本: 时间窗内数据当编译期常量特化, 失败回退AOT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469440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1469440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21608" y="1469440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98848" y="1469440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65776" y="1469440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1469440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1469440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Clang 6 属性标注面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21608" y="1469440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前端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08576" y="1492300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08576" y="1492300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11496" y="1469440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may_const 软标注(丢失安全); Attr.td→SemaEJIT→CGEJIT 全链路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649576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1649576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21608" y="1649576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8848" y="1649576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65776" y="1649576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1649576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" y="1649576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两阶段 bitcode 提取嵌入 PASS1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21608" y="1649576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08576" y="1672436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08576" y="1672436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11496" y="1649576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O2前提取调用图闭包, embed @__ejit_bitcode (提取改CloneModule+删)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1829712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368" y="1829712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721608" y="1829712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98848" y="1829712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65776" y="1829712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1829712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" y="1829712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may_const 双重保留 + AOT预优化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21608" y="1829712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08576" y="1852572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08576" y="1852572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11496" y="1829712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LLVM层kind保留 + GV偏移回退(v1.7) + reAnnotate; PASS1↔PASS6纽带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2009848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58368" y="2009848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721608" y="2009848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498848" y="2009848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65776" y="2009848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2009848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4088" y="2009848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AOT 协调器 PASS5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21608" y="2009848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08576" y="2032708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08576" y="2032708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11496" y="2009848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调度PASS2→3→4 + hasAnyEjitMetadata快速返回 + 一致性诊断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2189984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58368" y="2189984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721608" y="2189984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498848" y="2189984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065776" y="2189984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218998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⑥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4088" y="218998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Period/静态变量注册 PASS2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21608" y="218998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08576" y="221284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08576" y="221284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11496" y="218998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生成 ejit_register_period_array / static_var 注册调用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2370120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58368" y="2370120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721608" y="2370120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498848" y="2370120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065776" y="2370120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4320" y="2370120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⑦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4088" y="2370120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单函数 Wrapper + 稠密索引 PASS3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21608" y="2370120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08576" y="2392980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608576" y="2392980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11496" y="2370120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演进: 名字哈希→运行时稠密funcIndex(防碰撞); JIT失败fall原函数体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4320" y="2550256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58368" y="2550256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721608" y="2550256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498848" y="2550256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065776" y="2550256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4320" y="2550256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⑧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04088" y="2550256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时间窗生命周期护栏 PASS4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21608" y="2550256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08576" y="2573116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608576" y="2573116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11496" y="2550256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ejit_period_lc 函数入口deactivate / 出口activate, 同序配对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2730392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58368" y="2730392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721608" y="2730392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498848" y="2730392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065776" y="2730392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74320" y="2730392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⑨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04088" y="2730392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双轨运行时注册体系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21608" y="2730392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AOT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608576" y="2753252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608576" y="2753252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111496" y="2730392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global_ctors构造器 + __ejit_registry_*[]静态表(裸核); 超出设计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4320" y="2910528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58368" y="2910528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721608" y="2910528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498848" y="2910528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065776" y="2910528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74320" y="2910528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⑩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04088" y="2910528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编译缓存 LRU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721608" y="2910528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08576" y="2933388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608576" y="2933388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111496" y="2910528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iterator内嵌O(1); cacheKey=funcIdx&lt;&lt;32|dims; 三重上限+period失效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74320" y="3090664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58368" y="3090664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721608" y="3090664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98848" y="3090664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065776" y="3090664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74320" y="309066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⑪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04088" y="309066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编译调度器 CompileDriver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721608" y="309066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608576" y="311352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608576" y="311352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111496" y="309066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热路径单哈希查缓存, miss走compileCold(解码/验证/编译/入缓存)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4320" y="3270800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58368" y="3270800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721608" y="3270800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498848" y="3270800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65776" y="3270800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74320" y="3270800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⑫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04088" y="3270800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Bitcode 加载器 ModuleLoader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721608" y="3270800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608576" y="3293660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608576" y="3293660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111496" y="3270800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funcIdx稠密键(非funcName); 缓存period元数据; 幂等/冲突拒绝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74320" y="3450936"/>
            <a:ext cx="384048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58368" y="3450936"/>
            <a:ext cx="3063240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721608" y="3450936"/>
            <a:ext cx="777240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498848" y="3450936"/>
            <a:ext cx="566928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065776" y="3450936"/>
            <a:ext cx="6446520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4320" y="3450936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⑬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04088" y="3450936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JIT 优化流水线 + 在线PGO ★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721608" y="3450936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608576" y="3473796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608576" y="3473796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111496" y="3450936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2C5282"/>
                </a:solidFill>
                <a:latin typeface="微软雅黑"/>
              </a:rPr>
              <a:t>参数替换→InstCombine→PASS6→L1/L2/L3; 在线PGO(Tier1插桩→Tier2热点重编译→MBP块布局+内联); Inline按PGO决策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74320" y="3631072"/>
            <a:ext cx="384048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58368" y="3631072"/>
            <a:ext cx="3063240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721608" y="3631072"/>
            <a:ext cx="777240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498848" y="3631072"/>
            <a:ext cx="566928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5065776" y="3631072"/>
            <a:ext cx="6446520" cy="180136"/>
          </a:xfrm>
          <a:prstGeom prst="rect">
            <a:avLst/>
          </a:prstGeom>
          <a:solidFill>
            <a:srgbClr val="EBF2FA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74320" y="3631072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⑭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04088" y="3631072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结构体字段常量替换 PASS6 ★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721608" y="3631072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608576" y="3653932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608576" y="3653932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111496" y="3631072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2C5282"/>
                </a:solidFill>
                <a:latin typeface="微软雅黑"/>
              </a:rPr>
              <a:t>核心价值: may_const load→GEP算offset→读内存→构造Constant; 三模式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4320" y="3811208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58368" y="3811208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721608" y="3811208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4498848" y="3811208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5065776" y="3811208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74320" y="3811208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⑮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04088" y="3811208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OrcJIT 引擎 EJitOrcEngine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721608" y="3811208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608576" y="3834068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608576" y="3834068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111496" y="3811208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LLJIT+JITLink替代MCJIT; per-cacheKey JITDylib隔离; Large code model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74320" y="3991344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58368" y="3991344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3721608" y="3991344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498848" y="3991344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065776" y="3991344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74320" y="399134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⑯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04088" y="399134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SRE 机器码内存池 EJitCodePool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721608" y="399134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运行时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608576" y="401420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608576" y="401420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111496" y="399134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2MiB池接管JITLink代码内存, 4K内存池(同页装512函数); callback注入可单测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74320" y="4171480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658368" y="4171480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3721608" y="4171480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498848" y="4171480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065776" y="4171480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274320" y="4171480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⑰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04088" y="4171480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纯异步单 worker 调度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721608" y="4171480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taskpool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4608576" y="4194340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608576" y="4194340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111496" y="4171480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producer入队即返回fallback, 平台task上单worker轮询; CompileCallback解耦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274320" y="4351616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58368" y="4351616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3721608" y="4351616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4498848" y="4351616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065776" y="4351616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274320" y="4351616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⑱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04088" y="4351616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跨核共享单 worker taskpool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721608" y="4351616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taskpool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608576" y="4374476"/>
            <a:ext cx="310896" cy="134416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4608576" y="4374476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△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111496" y="4351616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POD共享blob+CAS选举owner; generation代际隔离; 代码✓待真机验证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74320" y="4531752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8368" y="4531752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3721608" y="4531752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498848" y="4531752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5065776" y="4531752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274320" y="4531752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⑲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704088" y="4531752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无锁队列+去重+分桶缓存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3721608" y="4531752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taskpool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4608576" y="4554612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4608576" y="4554612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111496" y="4531752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Vyukov MPSC(SC硬约束→固定1worker); 32桶隔离rehash; commit gate锁内校验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74320" y="4711888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58368" y="4711888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3721608" y="4711888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498848" y="4711888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065776" y="4711888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274320" y="4711888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⑳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04088" y="4711888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SwitchController version 失效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721608" y="4711888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3748"/>
                </a:solidFill>
                <a:latin typeface="微软雅黑"/>
              </a:rPr>
              <a:t>taskpool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4608576" y="4734748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4608576" y="4734748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5111496" y="4711888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逐实例version单调; toggle后三层全懒失效; 8×256二维数组零分配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274320" y="4892024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58368" y="4892024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3721608" y="4892024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4498848" y="4892024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065776" y="4892024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274320" y="489202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㉑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704088" y="489202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稠密槽注册表管理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3721608" y="489202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4608576" y="491488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4608576" y="491488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111496" y="489202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注册期单线程分配稠密槽(lifecycle[0,8)/funcIndex[0,4096)), 无锁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274320" y="5072160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58368" y="5072160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3721608" y="5072160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498848" y="5072160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5065776" y="5072160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274320" y="5072160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㉒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04088" y="5072160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注册暂存 + 双路径 + 冻结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721608" y="5072160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4608576" y="5095020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4608576" y="5095020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111496" y="5072160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构造期暂存→init消费; 构造器/静态表双路径; taskpool下冻结注册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274320" y="5252296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658368" y="5252296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3721608" y="5252296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4498848" y="5252296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5065776" y="5252296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274320" y="5252296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㉓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704088" y="5252296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SRE 平台抽象层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3721608" y="5252296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4608576" y="5275156"/>
            <a:ext cx="310896" cy="134416"/>
          </a:xfrm>
          <a:prstGeom prst="rect">
            <a:avLst/>
          </a:prstGeom>
          <a:solidFill>
            <a:srgbClr val="DD6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4608576" y="5275156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△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111496" y="5252296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头抽象+链接择一; 平台符号无weak fallback(缺失即链接错); host✓ SRE待接入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274320" y="5432432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658368" y="5432432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3721608" y="5432432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4498848" y="5432432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65776" y="5432432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5432432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㉔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704088" y="5432432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并发原语层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3721608" y="5432432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4608576" y="5455292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4608576" y="5455292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5111496" y="5432432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EJitAtomic(__atomic_*)/EJitRwLock(双变量)/EJitIpcLock(短临界区)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274320" y="5612568"/>
            <a:ext cx="38404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658368" y="5612568"/>
            <a:ext cx="3063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3721608" y="5612568"/>
            <a:ext cx="77724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4498848" y="5612568"/>
            <a:ext cx="566928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5065776" y="5612568"/>
            <a:ext cx="6446520" cy="180136"/>
          </a:xfrm>
          <a:prstGeom prst="rect">
            <a:avLst/>
          </a:prstGeom>
          <a:solidFill>
            <a:srgbClr val="F7F9FC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274320" y="5612568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㉕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704088" y="5612568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LLVM 裁剪三层体系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3721608" y="5612568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4608576" y="5635428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4608576" y="5635428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111496" y="5612568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源码宏排除+EJitPassBuilder+lipo.py; 53.a(117MB)→单ejit.o 32MB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274320" y="5792704"/>
            <a:ext cx="38404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658368" y="5792704"/>
            <a:ext cx="3063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3721608" y="5792704"/>
            <a:ext cx="77724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4498848" y="5792704"/>
            <a:ext cx="566928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5065776" y="5792704"/>
            <a:ext cx="6446520" cy="180136"/>
          </a:xfrm>
          <a:prstGeom prst="rect">
            <a:avLst/>
          </a:prstGeom>
          <a:solidFill>
            <a:srgbClr val="FFFFFF"/>
          </a:solidFill>
          <a:ln w="317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274320" y="5792704"/>
            <a:ext cx="384048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C5282"/>
                </a:solidFill>
                <a:latin typeface="微软雅黑"/>
              </a:rPr>
              <a:t>㉖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704088" y="5792704"/>
            <a:ext cx="297180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D3748"/>
                </a:solidFill>
                <a:latin typeface="微软雅黑"/>
              </a:rPr>
              <a:t>BareMetal 裸核运行时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3721608" y="5792704"/>
            <a:ext cx="77724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595959"/>
                </a:solidFill>
                <a:latin typeface="微软雅黑"/>
              </a:rPr>
              <a:t>横切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4608576" y="5815564"/>
            <a:ext cx="310896" cy="13441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4608576" y="5815564"/>
            <a:ext cx="310896" cy="134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5111496" y="5792704"/>
            <a:ext cx="6355080" cy="180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0" b="0">
                <a:solidFill>
                  <a:srgbClr val="595959"/>
                </a:solidFill>
                <a:latin typeface="微软雅黑"/>
              </a:rPr>
              <a:t>EJIT_FREESTANDING; no-op std头+POSIX桩库; std::mutex→BareMetalMutex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274320" y="6064280"/>
            <a:ext cx="11612880" cy="365760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457200" y="6064280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  <a:latin typeface="微软雅黑"/>
              </a:rPr>
              <a:t>图例:  </a:t>
            </a:r>
            <a:r>
              <a:rPr sz="1100" b="1">
                <a:solidFill>
                  <a:srgbClr val="38A16F"/>
                </a:solidFill>
                <a:latin typeface="微软雅黑"/>
              </a:rPr>
              <a:t>✓</a:t>
            </a:r>
            <a:r>
              <a:rPr sz="950" b="0">
                <a:solidFill>
                  <a:srgbClr val="595959"/>
                </a:solidFill>
                <a:latin typeface="微软雅黑"/>
              </a:rPr>
              <a:t> 已实现使用(24)   </a:t>
            </a:r>
            <a:r>
              <a:rPr sz="1100" b="1">
                <a:solidFill>
                  <a:srgbClr val="DD6B20"/>
                </a:solidFill>
                <a:latin typeface="微软雅黑"/>
              </a:rPr>
              <a:t>△</a:t>
            </a:r>
            <a:r>
              <a:rPr sz="950" b="0">
                <a:solidFill>
                  <a:srgbClr val="595959"/>
                </a:solidFill>
                <a:latin typeface="微软雅黑"/>
              </a:rPr>
              <a:t> 代码完成待真机验证(2)   </a:t>
            </a:r>
            <a:r>
              <a:rPr sz="950" b="1">
                <a:solidFill>
                  <a:srgbClr val="2C5282"/>
                </a:solidFill>
                <a:latin typeface="微软雅黑"/>
              </a:rPr>
              <a:t>    ★ 核心价值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0" cy="5029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D3748"/>
                </a:solidFill>
                <a:latin typeface="微软雅黑"/>
              </a:rPr>
              <a:t>EJIT 后续工作规划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从代码完成 → 真机验证 → 性能收益 → 可交付工程化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04672"/>
            <a:ext cx="12191695" cy="13716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896112"/>
            <a:ext cx="11567160" cy="45720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96112"/>
            <a:ext cx="11567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</a:rPr>
              <a:t>目标: 形成可复现的 EJIT 闭环证据链 —— </a:t>
            </a:r>
            <a:r>
              <a:rPr sz="1150" b="1">
                <a:solidFill>
                  <a:srgbClr val="CFE0F5"/>
                </a:solidFill>
                <a:latin typeface="微软雅黑"/>
              </a:rPr>
              <a:t>真机可跑</a:t>
            </a:r>
            <a:r>
              <a:rPr sz="1150" b="1">
                <a:solidFill>
                  <a:srgbClr val="FFFFFF"/>
                </a:solidFill>
                <a:latin typeface="微软雅黑"/>
              </a:rPr>
              <a:t> / </a:t>
            </a:r>
            <a:r>
              <a:rPr sz="1150" b="1">
                <a:solidFill>
                  <a:srgbClr val="CFE0F5"/>
                </a:solidFill>
                <a:latin typeface="微软雅黑"/>
              </a:rPr>
              <a:t>收益可量化</a:t>
            </a:r>
            <a:r>
              <a:rPr sz="1150" b="1">
                <a:solidFill>
                  <a:srgbClr val="FFFFFF"/>
                </a:solidFill>
                <a:latin typeface="微软雅黑"/>
              </a:rPr>
              <a:t> / </a:t>
            </a:r>
            <a:r>
              <a:rPr sz="1150" b="1">
                <a:solidFill>
                  <a:srgbClr val="CFE0F5"/>
                </a:solidFill>
                <a:latin typeface="微软雅黑"/>
              </a:rPr>
              <a:t>交付可裁剪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3733800" cy="38404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508760"/>
            <a:ext cx="35143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近期：验证闭环</a:t>
            </a:r>
            <a:r>
              <a:rPr sz="1000" b="0">
                <a:solidFill>
                  <a:srgbClr val="FFFFFF"/>
                </a:solidFill>
                <a:latin typeface="微软雅黑"/>
              </a:rPr>
              <a:t>  ·  </a:t>
            </a:r>
            <a:r>
              <a:rPr sz="1000" b="1">
                <a:solidFill>
                  <a:srgbClr val="E8F2FF"/>
                </a:solidFill>
                <a:latin typeface="微软雅黑"/>
              </a:rPr>
              <a:t>2~4 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1168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011680"/>
            <a:ext cx="64008" cy="65836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" y="2139696"/>
            <a:ext cx="310896" cy="31089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" y="213969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07568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在线PGO 收尾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32257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共享PGO触发已通; 真ejit_init端到端集成; +640KB体积决策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74320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743200"/>
            <a:ext cx="64008" cy="65836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" y="2871216"/>
            <a:ext cx="310896" cy="31089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28712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280720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SRE/AArch64 真机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05409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验证跨核共享 worker、裸核链接、平台符号接入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47472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474720"/>
            <a:ext cx="64008" cy="65836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6344" y="3602736"/>
            <a:ext cx="310896" cy="31089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360273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353872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Taskpool 压测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78561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MPSC 队列、去重、分桶缓存、version 失效长稳测试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20624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206240"/>
            <a:ext cx="64008" cy="65836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6344" y="4334256"/>
            <a:ext cx="310896" cy="310896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" y="433425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427024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JITLink/CodePool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451713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4K/2MiB 池边界、释放策略、失败 fallback 行为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36720" y="1508760"/>
            <a:ext cx="3733800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6448" y="1508760"/>
            <a:ext cx="35143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中期：收益量化</a:t>
            </a:r>
            <a:r>
              <a:rPr sz="1000" b="0">
                <a:solidFill>
                  <a:srgbClr val="FFFFFF"/>
                </a:solidFill>
                <a:latin typeface="微软雅黑"/>
              </a:rPr>
              <a:t>  ·  </a:t>
            </a:r>
            <a:r>
              <a:rPr sz="1000" b="1">
                <a:solidFill>
                  <a:srgbClr val="E8F2FF"/>
                </a:solidFill>
                <a:latin typeface="微软雅黑"/>
              </a:rPr>
              <a:t>1~2 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36720" y="201168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36720" y="2011680"/>
            <a:ext cx="64008" cy="65836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3024" y="2139696"/>
            <a:ext cx="310896" cy="310896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3024" y="213969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7072" y="207568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Benchmark 体系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7072" y="232257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zlib/zstd/业务 kernel: cold/hot/命中率/编译耗时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36720" y="274320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36720" y="2743200"/>
            <a:ext cx="64008" cy="65836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83024" y="2871216"/>
            <a:ext cx="310896" cy="310896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3024" y="28712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67072" y="280720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PASS6 增强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67072" y="305409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数组/嵌套结构/volatile/别名场景覆盖与收益分析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36720" y="347472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36720" y="3474720"/>
            <a:ext cx="64008" cy="65836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83024" y="3602736"/>
            <a:ext cx="310896" cy="310896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3024" y="360273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67072" y="353872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调参策略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67072" y="378561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L1/L2/L3 pipeline、缓存上限、异步编译触发阈值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36720" y="420624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36720" y="4206240"/>
            <a:ext cx="64008" cy="65836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83024" y="4334256"/>
            <a:ext cx="310896" cy="310896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3024" y="433425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67072" y="427024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裁剪体积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67072" y="451713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单 ejit.o 继续瘦身: PassBuilder/Target/JITLink 依赖收敛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53400" y="1508760"/>
            <a:ext cx="3733800" cy="38404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63128" y="1508760"/>
            <a:ext cx="35143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远期：工程交付</a:t>
            </a:r>
            <a:r>
              <a:rPr sz="1000" b="0">
                <a:solidFill>
                  <a:srgbClr val="FFFFFF"/>
                </a:solidFill>
                <a:latin typeface="微软雅黑"/>
              </a:rPr>
              <a:t>  ·  </a:t>
            </a:r>
            <a:r>
              <a:rPr sz="1000" b="1">
                <a:solidFill>
                  <a:srgbClr val="E8F2FF"/>
                </a:solidFill>
                <a:latin typeface="微软雅黑"/>
              </a:rPr>
              <a:t>季度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53400" y="201168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53400" y="2011680"/>
            <a:ext cx="64008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99704" y="2139696"/>
            <a:ext cx="310896" cy="310896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99704" y="213969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3752" y="207568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平台抽象固化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3752" y="232257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host/SRE/bare-metal 三套配置稳定化与文档化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53400" y="274320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53400" y="2743200"/>
            <a:ext cx="64008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99704" y="2871216"/>
            <a:ext cx="310896" cy="310896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99704" y="287121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83752" y="280720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诊断与可观测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3752" y="305409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trace/dump/错误码/统计 counters 统一输出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53400" y="347472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53400" y="3474720"/>
            <a:ext cx="64008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299704" y="3602736"/>
            <a:ext cx="310896" cy="310896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99704" y="360273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83752" y="353872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安全护栏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3752" y="378561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注册冻结、符号白名单、内存权限切换与越界保护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53400" y="4206240"/>
            <a:ext cx="3733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53400" y="4206240"/>
            <a:ext cx="64008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299704" y="4334256"/>
            <a:ext cx="310896" cy="310896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99704" y="433425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83752" y="4270248"/>
            <a:ext cx="3048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论文/专利材料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3752" y="4517136"/>
            <a:ext cx="3048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时间窗常量 + 运行时特化 + 裁剪 JIT 的体系化总结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0040" y="5367528"/>
            <a:ext cx="11567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D3748"/>
                </a:solidFill>
                <a:latin typeface="微软雅黑"/>
              </a:rPr>
              <a:t>▎阶段性交付物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0040" y="5623560"/>
            <a:ext cx="278892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20040" y="5623560"/>
            <a:ext cx="54864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84632" y="5678424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真机验证报告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4632" y="5952744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SRE 多核 / 裸核 / fallback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246120" y="5623560"/>
            <a:ext cx="278892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246120" y="5623560"/>
            <a:ext cx="54864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410712" y="5678424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性能收益表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10712" y="5952744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命中率 / 耗时 / 加速比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72200" y="5623560"/>
            <a:ext cx="278892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172200" y="5623560"/>
            <a:ext cx="54864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36792" y="5678424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裁剪构建包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36792" y="5952744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LLVMEJIT.a / 单 ejit.o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98280" y="5623560"/>
            <a:ext cx="2788920" cy="658368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98280" y="5623560"/>
            <a:ext cx="54864" cy="65836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262872" y="5678424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48"/>
                </a:solidFill>
                <a:latin typeface="微软雅黑"/>
              </a:rPr>
              <a:t>可复现 Demo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262872" y="5952744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微软雅黑"/>
              </a:rPr>
              <a:t>脚本 + 测试 + 文档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411480" cy="50292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2D3748"/>
                </a:solidFill>
                <a:latin typeface="微软雅黑"/>
              </a:rPr>
              <a:t>编译器的技术规划与畅想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AI × 传统编译器 · 用 AI 改造编译器本身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04672"/>
            <a:ext cx="12191695" cy="13716"/>
          </a:xfrm>
          <a:prstGeom prst="rect">
            <a:avLst/>
          </a:prstGeom>
          <a:solidFill>
            <a:srgbClr val="D9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896112"/>
            <a:ext cx="11567160" cy="457200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96112"/>
            <a:ext cx="11567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</a:rPr>
              <a:t>用 AI 改造传统编译器本身（而非用编译器服务 AI）· 两大落点：</a:t>
            </a:r>
            <a:r>
              <a:rPr sz="1150" b="1">
                <a:solidFill>
                  <a:srgbClr val="CFE0F5"/>
                </a:solidFill>
                <a:latin typeface="微软雅黑"/>
              </a:rPr>
              <a:t>① 产出更优代码（性能）</a:t>
            </a:r>
            <a:r>
              <a:rPr sz="1150" b="1">
                <a:solidFill>
                  <a:srgbClr val="CFE0F5"/>
                </a:solidFill>
                <a:latin typeface="微软雅黑"/>
              </a:rPr>
              <a:t>   ② 自身/产物更小更快（小型化）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481328"/>
            <a:ext cx="5715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D3748"/>
                </a:solidFill>
                <a:latin typeface="微软雅黑"/>
              </a:rPr>
              <a:t>▎渐进落地方向 (9) · 可工程化、能发论文+工业界会用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01368"/>
            <a:ext cx="5715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182CE"/>
                </a:solidFill>
                <a:latin typeface="微软雅黑"/>
              </a:rPr>
              <a:t>性能优化（让编译器产出更优代码）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48256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048256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2048256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048256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学习型 Inliner 可解释化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04825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蒸馏 MLGO 黑盒 → 决策树规则, 可审计/可移植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59736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459736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2459736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459736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LLM Superoptimizer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45973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LLM propose + Alive2 verify, 重写 10-30 条指令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871216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871216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2871216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871216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神经代价模型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287121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替代 RegAlloc/Scheduler 启发式(异构硬件撑不住)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282696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282696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3282696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282696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PGO 无 profile 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328269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GNN 预测分支频次, 让 PGO 民主化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694176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3694176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" y="3694176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694176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自动发掘 Combine 规则 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3694176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扫手写汇编 diff, 自动产真实 LLVM patch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4151376"/>
            <a:ext cx="5715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182CE"/>
                </a:solidFill>
                <a:latin typeface="微软雅黑"/>
              </a:rPr>
              <a:t>小型化（编译器自身/产物更小更快）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398264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4398264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" y="4398264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398264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学习型 Size Opt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4398264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-Oz 继承者, MLGO 换 size reward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809744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4809744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" y="4809744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4809744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LTO 学习型死代码消除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4809744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预测运行时不可达 symbol(冷代码后置)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221224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5221224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632" y="5221224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221224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AI 辅助 Pass 删除 / 瘦身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17520" y="5221224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定制 PassManager + 裁剪编译器 binary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632704"/>
            <a:ext cx="5715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0040" y="5632704"/>
            <a:ext cx="64008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" y="5632704"/>
            <a:ext cx="2743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C5282"/>
                </a:solidFill>
                <a:latin typeface="微软雅黑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5632704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2D3748"/>
                </a:solidFill>
                <a:latin typeface="微软雅黑"/>
              </a:rPr>
              <a:t>IR 学习型压缩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17520" y="5632704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微软雅黑"/>
              </a:rPr>
              <a:t>bitcode/MIR 专用字典, 分布式编译加速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1481328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D3748"/>
                </a:solidFill>
                <a:latin typeface="微软雅黑"/>
              </a:rPr>
              <a:t>▎颠覆性畅想 (精选) · 触及编译器根基假设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1801368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1801368"/>
            <a:ext cx="64008" cy="56692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82512" y="1892808"/>
            <a:ext cx="502920" cy="38404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82512" y="189280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夯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95160" y="1847088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自演化编译器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95160" y="2093976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编译时持续学习优化规则并固化进下版本, 传统编译器 5 年内或被淘汰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2404872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17920" y="2404872"/>
            <a:ext cx="64008" cy="56692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82512" y="2496312"/>
            <a:ext cx="502920" cy="384048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82512" y="249631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夯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95160" y="2450592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Verified-by-Default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2697480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AI 自动生成性质证明, 代码默认带形式化证书(无 UB/data race)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0" y="3008376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17920" y="3008376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382512" y="3099816"/>
            <a:ext cx="502920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82512" y="3099816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顶级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95160" y="3054096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端到端可微编译器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95160" y="3300984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整条 pipeline 离散决策连续松弛, 端到端梯度优化运行时间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17920" y="3611880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17920" y="3611880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382512" y="3703320"/>
            <a:ext cx="502920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82512" y="3703320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顶级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95160" y="365760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程序综合替代编译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95160" y="3904488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编译器重写算法本身(O(n²)→O(n log n)), I/O 等价+profile 验证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17920" y="4215384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217920" y="4215384"/>
            <a:ext cx="64008" cy="56692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382512" y="4306824"/>
            <a:ext cx="502920" cy="384048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82512" y="4306824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顶级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95160" y="4261104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神经符号混合 IR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95160" y="4507992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IR 节点可为神经嵌入, 中间阶段“模糊思考”后塌缩成符号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17920" y="4818888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217920" y="4818888"/>
            <a:ext cx="64008" cy="56692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382512" y="4910328"/>
            <a:ext cx="502920" cy="38404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82512" y="4910328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人上人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95160" y="4864608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跨层联合优化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60" y="5111496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打破 编译器/OS/硬件 分层抽象, AI 学跨层隐性接口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17920" y="5422392"/>
            <a:ext cx="56692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217920" y="5422392"/>
            <a:ext cx="64008" cy="56692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382512" y="5513832"/>
            <a:ext cx="502920" cy="384048"/>
          </a:xfrm>
          <a:prstGeom prst="rect">
            <a:avLst/>
          </a:prstGeom>
          <a:solidFill>
            <a:srgbClr val="38A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82512" y="5513832"/>
            <a:ext cx="502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/>
              </a:rPr>
              <a:t>人上人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95160" y="5468112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多模态编译器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95160" y="5715000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595959"/>
                </a:solidFill>
                <a:latin typeface="微软雅黑"/>
              </a:rPr>
              <a:t>读代码+注释+commit+issue, 理解“程序意图”作优化信号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0040" y="6053328"/>
            <a:ext cx="11567160" cy="713232"/>
          </a:xfrm>
          <a:prstGeom prst="rect">
            <a:avLst/>
          </a:prstGeom>
          <a:solidFill>
            <a:srgbClr val="F5F7FA"/>
          </a:solidFill>
          <a:ln w="635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20040" y="6053328"/>
            <a:ext cx="64008" cy="713232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84632" y="6089904"/>
            <a:ext cx="11292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  <a:latin typeface="微软雅黑"/>
              </a:rPr>
              <a:t>▎推荐切入路径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4632" y="6327648"/>
            <a:ext cx="11292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微软雅黑"/>
              </a:rPr>
              <a:t>① 快速出成果建声誉 → 自动挖 Combine 规则(每周产真实 LLVM patch)   </a:t>
            </a:r>
            <a:r>
              <a:rPr sz="900" b="0">
                <a:solidFill>
                  <a:srgbClr val="595959"/>
                </a:solidFill>
                <a:latin typeface="微软雅黑"/>
              </a:rPr>
              <a:t>② 立大功 → LLM Superoptimizer(范式干净、Alive2 兜底)   </a:t>
            </a:r>
            <a:r>
              <a:rPr sz="900" b="0">
                <a:solidFill>
                  <a:srgbClr val="595959"/>
                </a:solidFill>
                <a:latin typeface="微软雅黑"/>
              </a:rPr>
              <a:t>③ 长跑 → 自演化 / Verified-by-Default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