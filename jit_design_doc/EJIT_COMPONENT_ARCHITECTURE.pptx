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4864"/>
            <a:ext cx="11430000" cy="384048"/>
          </a:xfrm>
          <a:prstGeom prst="rect">
            <a:avLst/>
          </a:prstGeom>
          <a:noFill/>
        </p:spPr>
        <p:txBody>
          <a:bodyPr wrap="square" anchor="ctr" lIns="12700" rIns="12700" tIns="6350" bIns="6350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Microsoft YaHei"/>
              </a:rPr>
              <a:t>EmbeddedJIT 组件架构图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420624"/>
            <a:ext cx="11430000" cy="0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1045524" y="492770"/>
            <a:ext cx="10101925" cy="45529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9349" y="535454"/>
            <a:ext cx="9959644" cy="11382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900" b="1">
                <a:solidFill>
                  <a:srgbClr val="6B46C1"/>
                </a:solidFill>
                <a:latin typeface="Microsoft YaHei"/>
              </a:rPr>
              <a:t>用户接口 · User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9349" y="663506"/>
            <a:ext cx="9959644" cy="11382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700" b="0">
                <a:solidFill>
                  <a:srgbClr val="2C5282"/>
                </a:solidFill>
                <a:latin typeface="Microsoft YaHei"/>
              </a:rPr>
              <a:t>属性宏：EJIT_PERIOD_CONST · EJIT_IN_PERIOD · EJIT_IN_PERIOD_ARRAY · EJIT_ENTRY · EJIT_DIM · EJIT_PERIOD_GUARD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9349" y="770217"/>
            <a:ext cx="9959644" cy="11382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700" b="0">
                <a:solidFill>
                  <a:srgbClr val="4A5568"/>
                </a:solidFill>
                <a:latin typeface="Microsoft YaHei"/>
              </a:rPr>
              <a:t>C API：ejit_init · activate/deactivate · taskpool_compile_or_get · release_read · register_symbol · set_compile_mode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5524" y="1076120"/>
            <a:ext cx="3557015" cy="4481840"/>
          </a:xfrm>
          <a:prstGeom prst="roundRect">
            <a:avLst>
              <a:gd name="adj" fmla="val 3000"/>
            </a:avLst>
          </a:prstGeom>
          <a:solidFill>
            <a:srgbClr val="EEF3F9"/>
          </a:solidFill>
          <a:ln w="2032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3577" y="1189945"/>
            <a:ext cx="3343595" cy="12805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Microsoft YaHei"/>
              </a:rPr>
              <a:t>编译时工具链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3577" y="1303769"/>
            <a:ext cx="3343595" cy="99596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700" b="0">
                <a:solidFill>
                  <a:srgbClr val="718096"/>
                </a:solidFill>
                <a:latin typeface="Microsoft YaHei"/>
              </a:rPr>
              <a:t>Compile-Time Toolchain · Clang + LLVM AOT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3577" y="1446050"/>
            <a:ext cx="3300910" cy="853683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8441" y="1455194"/>
            <a:ext cx="3209470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2C7A7B"/>
                </a:solidFill>
                <a:latin typeface="Microsoft YaHei"/>
              </a:rPr>
              <a:t>Clang 前端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58945" y="1631015"/>
            <a:ext cx="1010192" cy="55489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69918" y="1647474"/>
            <a:ext cx="25603" cy="521976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4665" y="1638330"/>
            <a:ext cx="955328" cy="54026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Attr.td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TableGen 定义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6 个 EJIT 属性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+ Spellings/Subjects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40278" y="1631015"/>
            <a:ext cx="1010192" cy="55489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51251" y="1647474"/>
            <a:ext cx="25603" cy="521976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85998" y="1638330"/>
            <a:ext cx="955328" cy="54026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Sema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语义 / 防呆检查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归属冲突 · 修改点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元数据一致性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1611" y="1631015"/>
            <a:ext cx="953280" cy="55489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32584" y="1647474"/>
            <a:ext cx="25603" cy="521976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7331" y="1638330"/>
            <a:ext cx="898416" cy="54026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CodeGen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AST -&gt; LLVM IR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!ejit.may_const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!ejit.metadata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3577" y="2399330"/>
            <a:ext cx="3300910" cy="1650455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8441" y="2408474"/>
            <a:ext cx="3209470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2C5282"/>
                </a:solidFill>
                <a:latin typeface="Microsoft YaHei"/>
              </a:rPr>
              <a:t>AOT Pass 模块 · llvm/lib/Transforms/EmbeddedJIT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58945" y="2584295"/>
            <a:ext cx="981736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69918" y="2600754"/>
            <a:ext cx="25603" cy="365467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04665" y="2591610"/>
            <a:ext cx="926872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PASS1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RegisterBitcode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早期(O2前)·提取Bitcode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1822" y="2584295"/>
            <a:ext cx="981736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22795" y="2600754"/>
            <a:ext cx="25603" cy="365467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57542" y="2591610"/>
            <a:ext cx="926872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PASS2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RegisterPeriod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变量注册代码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699" y="2584295"/>
            <a:ext cx="1010192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75672" y="2600754"/>
            <a:ext cx="25603" cy="365467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10419" y="2591610"/>
            <a:ext cx="955328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PASS3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WrapperGen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单函数混合插桩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58945" y="3053821"/>
            <a:ext cx="981736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69918" y="3070280"/>
            <a:ext cx="25603" cy="365467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04665" y="3061136"/>
            <a:ext cx="926872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PASS4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PeriodHandler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lc deactivate/activate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11822" y="3053821"/>
            <a:ext cx="981736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22795" y="3070280"/>
            <a:ext cx="25603" cy="365467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7542" y="3061136"/>
            <a:ext cx="926872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PASS5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AotModulePass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协调 PASS2-4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4699" y="3053821"/>
            <a:ext cx="1010192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5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75672" y="3070280"/>
            <a:ext cx="25603" cy="365467"/>
          </a:xfrm>
          <a:prstGeom prst="rect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0419" y="3061136"/>
            <a:ext cx="955328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O2 / O3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标准优化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优化 Wrapper 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8945" y="3551803"/>
            <a:ext cx="3215542" cy="99596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650" b="0">
                <a:solidFill>
                  <a:srgbClr val="718096"/>
                </a:solidFill>
                <a:latin typeface="Microsoft YaHei"/>
              </a:rPr>
              <a:t>时序：PASS1 早期 -&gt; PASS2-5 插桩(非LTO前/LTO后) -&gt; O2/O3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8945" y="3658514"/>
            <a:ext cx="3215542" cy="99596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650" b="0">
                <a:solidFill>
                  <a:srgbClr val="718096"/>
                </a:solidFill>
                <a:latin typeface="Microsoft YaHei"/>
              </a:rPr>
              <a:t>PASS1 reAnnotateMayConst 重挂元数据 · 自动注册符号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58945" y="3893277"/>
            <a:ext cx="3215542" cy="11382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900" b="1">
                <a:solidFill>
                  <a:srgbClr val="C05621"/>
                </a:solidFill>
                <a:latin typeface="Microsoft YaHei"/>
              </a:rPr>
              <a:t>编译产物 · Artifact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58945" y="4021330"/>
            <a:ext cx="3215542" cy="1067104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69918" y="4037789"/>
            <a:ext cx="27432" cy="1034186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4665" y="4049786"/>
            <a:ext cx="3160678" cy="1048816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900" b="1">
                <a:solidFill>
                  <a:srgbClr val="7B341E"/>
                </a:solidFill>
                <a:latin typeface="Microsoft YaHei"/>
              </a:rPr>
              <a:t>可执行文件（静态链接 libejit.a）</a:t>
            </a:r>
          </a:p>
          <a:p>
            <a:pPr algn="l"/>
            <a:r>
              <a:rPr sz="700" b="0">
                <a:solidFill>
                  <a:srgbClr val="4A5568"/>
                </a:solidFill>
                <a:latin typeface="Microsoft YaHei"/>
              </a:rPr>
              <a:t>▸ AOT 编译用户代码 + Wrapper 入口插桩</a:t>
            </a:r>
          </a:p>
          <a:p>
            <a:pPr algn="l"/>
            <a:r>
              <a:rPr sz="700" b="0">
                <a:solidFill>
                  <a:srgbClr val="4A5568"/>
                </a:solidFill>
                <a:latin typeface="Microsoft YaHei"/>
              </a:rPr>
              <a:t>▸ libejit.a 运行时库（链入可执行文件）</a:t>
            </a:r>
          </a:p>
          <a:p>
            <a:pPr algn="l"/>
            <a:r>
              <a:rPr sz="700" b="0">
                <a:solidFill>
                  <a:srgbClr val="4A5568"/>
                </a:solidFill>
                <a:latin typeface="Microsoft YaHei"/>
              </a:rPr>
              <a:t>▸ 嵌入 Bitcode 段（运行时按需加载）</a:t>
            </a:r>
          </a:p>
          <a:p>
            <a:pPr algn="l"/>
            <a:r>
              <a:rPr sz="700" b="0">
                <a:solidFill>
                  <a:srgbClr val="4A5568"/>
                </a:solidFill>
                <a:latin typeface="Microsoft YaHei"/>
              </a:rPr>
              <a:t>▸ 构造函数填充注册表 -&gt; RegistrationStore</a:t>
            </a:r>
          </a:p>
          <a:p>
            <a:pPr algn="l"/>
            <a:r>
              <a:rPr sz="700" b="1">
                <a:solidFill>
                  <a:srgbClr val="C05621"/>
                </a:solidFill>
                <a:latin typeface="Microsoft YaHei"/>
              </a:rPr>
              <a:t>★ 编译期产物 / 运行期输入（两子系统契约）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58945" y="5131119"/>
            <a:ext cx="3215542" cy="99596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650" b="0">
                <a:solidFill>
                  <a:srgbClr val="718096"/>
                </a:solidFill>
                <a:latin typeface="Microsoft YaHei"/>
              </a:rPr>
              <a:t>部署：Bitcode 嵌入独立段 · libejit.a 独立提供 · 按需加载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25347" y="1076120"/>
            <a:ext cx="5122103" cy="4979822"/>
          </a:xfrm>
          <a:prstGeom prst="roundRect">
            <a:avLst>
              <a:gd name="adj" fmla="val 3000"/>
            </a:avLst>
          </a:prstGeom>
          <a:solidFill>
            <a:srgbClr val="F2F8F4"/>
          </a:solidFill>
          <a:ln w="2032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53399" y="1189945"/>
            <a:ext cx="4908682" cy="12805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1200" b="1">
                <a:solidFill>
                  <a:srgbClr val="1A365D"/>
                </a:solidFill>
                <a:latin typeface="Microsoft YaHei"/>
              </a:rPr>
              <a:t>运行时库 · libejit.a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3399" y="1303769"/>
            <a:ext cx="4908682" cy="99596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700" b="0">
                <a:solidFill>
                  <a:srgbClr val="718096"/>
                </a:solidFill>
                <a:latin typeface="Microsoft YaHei"/>
              </a:rPr>
              <a:t>llvm/lib/ExecutionEngine/EJIT · 调度 / 缓存 / 编译引擎 / 内存 / 状态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53399" y="1474506"/>
            <a:ext cx="1465490" cy="11097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08263" y="1483650"/>
            <a:ext cx="1374050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3182CE"/>
                </a:solidFill>
                <a:latin typeface="Microsoft YaHei"/>
              </a:rPr>
              <a:t>调度与门控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24540" y="1659471"/>
            <a:ext cx="1323209" cy="35570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35513" y="1675930"/>
            <a:ext cx="25603" cy="322783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70260" y="1666786"/>
            <a:ext cx="1268345" cy="341071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EJitTaskPool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编译调度器 · compileOrGet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24540" y="2086313"/>
            <a:ext cx="1323209" cy="4268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35513" y="2102772"/>
            <a:ext cx="25603" cy="393923"/>
          </a:xfrm>
          <a:prstGeom prst="rect">
            <a:avLst/>
          </a:prstGeom>
          <a:solidFill>
            <a:srgbClr val="318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70260" y="2093628"/>
            <a:ext cx="1268345" cy="412211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SwitchController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per-dim enable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+ 单调 version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32715" y="1474506"/>
            <a:ext cx="1422806" cy="11097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87579" y="1483650"/>
            <a:ext cx="1331366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2F855A"/>
                </a:solidFill>
                <a:latin typeface="Microsoft YaHei"/>
              </a:rPr>
              <a:t>缓存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03855" y="1659471"/>
            <a:ext cx="1280525" cy="8252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14828" y="1675930"/>
            <a:ext cx="25603" cy="792309"/>
          </a:xfrm>
          <a:prstGeom prst="rect">
            <a:avLst/>
          </a:prstGeom>
          <a:solidFill>
            <a:srgbClr val="2F8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9575" y="1666786"/>
            <a:ext cx="1225661" cy="810597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TaskPoolCache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32 bucket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per-bucket RwLock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read-token 并发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publish spin readers==0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cacheKey=hash(func,dims)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69345" y="1474506"/>
            <a:ext cx="1750051" cy="11097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4209" y="1483650"/>
            <a:ext cx="1658611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6B46C1"/>
                </a:solidFill>
                <a:latin typeface="Microsoft YaHei"/>
              </a:rPr>
              <a:t>队列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40486" y="1659471"/>
            <a:ext cx="1607771" cy="8252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51459" y="1675930"/>
            <a:ext cx="25603" cy="792309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6206" y="1666786"/>
            <a:ext cx="1552907" cy="810597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TaskQueue + DedupTable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Vyukov MPSC 环 (1024)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dedup CAS(0-&gt;1)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shared 模式 generation-aware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53399" y="2726576"/>
            <a:ext cx="1465490" cy="65449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08263" y="2735720"/>
            <a:ext cx="1374050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C05621"/>
                </a:solidFill>
                <a:latin typeface="Microsoft YaHei"/>
              </a:rPr>
              <a:t>编译执行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24540" y="2911541"/>
            <a:ext cx="1323209" cy="39838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35513" y="2928000"/>
            <a:ext cx="25603" cy="365467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70260" y="2918856"/>
            <a:ext cx="1268345" cy="383755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EJitWorker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单消费者循环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checkpoint 版本校验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32715" y="2726576"/>
            <a:ext cx="3286682" cy="1422806"/>
          </a:xfrm>
          <a:prstGeom prst="roundRect">
            <a:avLst>
              <a:gd name="adj" fmla="val 5000"/>
            </a:avLst>
          </a:prstGeom>
          <a:solidFill>
            <a:srgbClr val="F5F0FF"/>
          </a:solidFill>
          <a:ln w="254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846539" y="2769260"/>
            <a:ext cx="3130174" cy="113824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6B46C1"/>
                </a:solidFill>
                <a:latin typeface="Microsoft YaHei"/>
              </a:rPr>
              <a:t>★ JIT 编译引擎 · OrcJIT / LLJIT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818083" y="2939997"/>
            <a:ext cx="3115946" cy="31301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829056" y="2956456"/>
            <a:ext cx="25603" cy="280099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63803" y="2947312"/>
            <a:ext cx="3061082" cy="298387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EJitCompileDriver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owns OrcEngine + BitcodeTracker · CompileCallback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18083" y="3295698"/>
            <a:ext cx="3115946" cy="31301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829056" y="3312157"/>
            <a:ext cx="25603" cy="280099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03" y="3303013"/>
            <a:ext cx="3061082" cy="298387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EJitOrcEngine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LLJIT · JITDylib / ResourceTracker / IRTransformLayer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18083" y="3651400"/>
            <a:ext cx="3115946" cy="42684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829056" y="3667859"/>
            <a:ext cx="25603" cy="393923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03" y="3658715"/>
            <a:ext cx="3061082" cy="412211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特化流水线 -&gt; IRCompile -&gt; ObjectLinking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参数替换-&gt;InstCombine-&gt;Inline-&gt;PASS6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-&gt;Optimizer(L1/L2/L3)-&gt;JITLink codegen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53399" y="4291663"/>
            <a:ext cx="1465490" cy="11097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08263" y="4300807"/>
            <a:ext cx="1374050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C05621"/>
                </a:solidFill>
                <a:latin typeface="Microsoft YaHei"/>
              </a:rPr>
              <a:t>内存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24540" y="4476628"/>
            <a:ext cx="1323209" cy="36992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35513" y="4493087"/>
            <a:ext cx="25603" cy="337011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70260" y="4483943"/>
            <a:ext cx="1268345" cy="355299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CodePoolManager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2MiB 对齐 bump 池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禁用 malloc/mmap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24540" y="4917698"/>
            <a:ext cx="1323209" cy="41261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35513" y="4934157"/>
            <a:ext cx="25603" cy="379695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70260" y="4925013"/>
            <a:ext cx="1268345" cy="397983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CodePoolMemoryManager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JITLink 分配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4K 页 RW-&gt;RX 密封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732715" y="4291663"/>
            <a:ext cx="1422806" cy="11097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87579" y="4300807"/>
            <a:ext cx="1331366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475569"/>
                </a:solidFill>
                <a:latin typeface="Microsoft YaHei"/>
              </a:rPr>
              <a:t>平台抽象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803855" y="4476628"/>
            <a:ext cx="1280525" cy="36992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814828" y="4493087"/>
            <a:ext cx="25603" cy="337011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49575" y="4483943"/>
            <a:ext cx="1225661" cy="355299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SrePlatform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裸核注入回调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split_2m_to_4k / enable_ex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803855" y="4917698"/>
            <a:ext cx="1280525" cy="41261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814828" y="4934157"/>
            <a:ext cx="25603" cy="37969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49575" y="4925013"/>
            <a:ext cx="1225661" cy="397983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并发原语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EJitAtomic / RwLock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SreTask · 无 std::thread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269345" y="4291663"/>
            <a:ext cx="1750051" cy="1109788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24209" y="4300807"/>
            <a:ext cx="1658611" cy="164592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2C7A7B"/>
                </a:solidFill>
                <a:latin typeface="Microsoft YaHei"/>
              </a:rPr>
              <a:t>状态与注册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340486" y="4476628"/>
            <a:ext cx="1607771" cy="36992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351459" y="4493087"/>
            <a:ext cx="25603" cy="337011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386206" y="4483943"/>
            <a:ext cx="1552907" cy="355299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RuntimeState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activate/deactivate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(dimType, instanceId) 状态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40486" y="4917698"/>
            <a:ext cx="1607771" cy="41261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2C7A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51459" y="4934157"/>
            <a:ext cx="25603" cy="379695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86206" y="4925013"/>
            <a:ext cx="1552907" cy="397983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Registries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Func / Lifecycle / PeriodArray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BitcodeTracker (只读)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547750" y="1837322"/>
            <a:ext cx="256105" cy="0"/>
          </a:xfrm>
          <a:prstGeom prst="line">
            <a:avLst/>
          </a:prstGeom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7520354" y="1702429"/>
            <a:ext cx="310896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520354" y="1702429"/>
            <a:ext cx="310896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lookup</a:t>
            </a:r>
          </a:p>
        </p:txBody>
      </p:sp>
      <p:sp>
        <p:nvSpPr>
          <p:cNvPr id="113" name="Freeform 112"/>
          <p:cNvSpPr/>
          <p:nvPr/>
        </p:nvSpPr>
        <p:spPr>
          <a:xfrm>
            <a:off x="6886145" y="1403366"/>
            <a:ext cx="3258226" cy="256105"/>
          </a:xfrm>
          <a:custGeom>
            <a:avLst/>
            <a:gdLst/>
            <a:ahLst/>
            <a:cxnLst/>
            <a:rect l="l" t="t" r="r" b="b"/>
            <a:pathLst>
              <a:path w="3258226" h="256105">
                <a:moveTo>
                  <a:pt x="0" y="256105"/>
                </a:moveTo>
                <a:lnTo>
                  <a:pt x="0" y="0"/>
                </a:lnTo>
                <a:lnTo>
                  <a:pt x="3258226" y="0"/>
                </a:lnTo>
                <a:lnTo>
                  <a:pt x="3258226" y="256105"/>
                </a:lnTo>
              </a:path>
            </a:pathLst>
          </a:custGeom>
          <a:noFill/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341522" y="1332500"/>
            <a:ext cx="34747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41522" y="1332500"/>
            <a:ext cx="34747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enqueue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886145" y="2015173"/>
            <a:ext cx="0" cy="71140"/>
          </a:xfrm>
          <a:prstGeom prst="line">
            <a:avLst/>
          </a:prstGeom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7009150" y="1979877"/>
            <a:ext cx="237744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009150" y="1979877"/>
            <a:ext cx="237744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gate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6886145" y="2484699"/>
            <a:ext cx="3258226" cy="426842"/>
          </a:xfrm>
          <a:custGeom>
            <a:avLst/>
            <a:gdLst/>
            <a:ahLst/>
            <a:cxnLst/>
            <a:rect l="l" t="t" r="r" b="b"/>
            <a:pathLst>
              <a:path w="3258226" h="426842">
                <a:moveTo>
                  <a:pt x="3258226" y="0"/>
                </a:moveTo>
                <a:lnTo>
                  <a:pt x="3258226" y="184964"/>
                </a:lnTo>
                <a:lnTo>
                  <a:pt x="0" y="184964"/>
                </a:lnTo>
                <a:lnTo>
                  <a:pt x="0" y="426842"/>
                </a:lnTo>
              </a:path>
            </a:pathLst>
          </a:custGeom>
          <a:noFill/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8341522" y="2598797"/>
            <a:ext cx="34747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41522" y="2598797"/>
            <a:ext cx="34747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dequeue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547750" y="3110733"/>
            <a:ext cx="270333" cy="0"/>
          </a:xfrm>
          <a:prstGeom prst="line">
            <a:avLst/>
          </a:prstGeom>
          <a:ln w="20320">
            <a:solidFill>
              <a:srgbClr val="6B46C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7509180" y="2990069"/>
            <a:ext cx="34747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509180" y="2990069"/>
            <a:ext cx="34747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6B46C1"/>
                </a:solidFill>
                <a:latin typeface="Microsoft YaHei"/>
              </a:rPr>
              <a:t>compile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6886145" y="2484699"/>
            <a:ext cx="1557973" cy="426842"/>
          </a:xfrm>
          <a:custGeom>
            <a:avLst/>
            <a:gdLst/>
            <a:ahLst/>
            <a:cxnLst/>
            <a:rect l="l" t="t" r="r" b="b"/>
            <a:pathLst>
              <a:path w="1557973" h="426842">
                <a:moveTo>
                  <a:pt x="0" y="426842"/>
                </a:moveTo>
                <a:lnTo>
                  <a:pt x="0" y="341473"/>
                </a:lnTo>
                <a:lnTo>
                  <a:pt x="1557973" y="341473"/>
                </a:lnTo>
                <a:lnTo>
                  <a:pt x="1557973" y="0"/>
                </a:lnTo>
              </a:path>
            </a:pathLst>
          </a:custGeom>
          <a:noFill/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8249040" y="2755306"/>
            <a:ext cx="34747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249040" y="2755306"/>
            <a:ext cx="34747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publish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0144371" y="3651400"/>
            <a:ext cx="789658" cy="825228"/>
          </a:xfrm>
          <a:custGeom>
            <a:avLst/>
            <a:gdLst/>
            <a:ahLst/>
            <a:cxnLst/>
            <a:rect l="l" t="t" r="r" b="b"/>
            <a:pathLst>
              <a:path w="789658" h="825228">
                <a:moveTo>
                  <a:pt x="789658" y="0"/>
                </a:moveTo>
                <a:lnTo>
                  <a:pt x="789658" y="611807"/>
                </a:lnTo>
                <a:lnTo>
                  <a:pt x="0" y="611807"/>
                </a:lnTo>
                <a:lnTo>
                  <a:pt x="0" y="825228"/>
                </a:lnTo>
              </a:path>
            </a:pathLst>
          </a:custGeom>
          <a:noFill/>
          <a:ln w="12700">
            <a:solidFill>
              <a:srgbClr val="718096"/>
            </a:solidFill>
            <a:prstDash val="dash"/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10687104" y="3907779"/>
            <a:ext cx="237744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87104" y="3907779"/>
            <a:ext cx="237744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read</a:t>
            </a:r>
          </a:p>
        </p:txBody>
      </p:sp>
      <p:sp>
        <p:nvSpPr>
          <p:cNvPr id="131" name="Freeform 130"/>
          <p:cNvSpPr/>
          <p:nvPr/>
        </p:nvSpPr>
        <p:spPr>
          <a:xfrm>
            <a:off x="6886145" y="4078242"/>
            <a:ext cx="931938" cy="398386"/>
          </a:xfrm>
          <a:custGeom>
            <a:avLst/>
            <a:gdLst/>
            <a:ahLst/>
            <a:cxnLst/>
            <a:rect l="l" t="t" r="r" b="b"/>
            <a:pathLst>
              <a:path w="931938" h="398386">
                <a:moveTo>
                  <a:pt x="931938" y="0"/>
                </a:moveTo>
                <a:lnTo>
                  <a:pt x="931938" y="113824"/>
                </a:lnTo>
                <a:lnTo>
                  <a:pt x="0" y="113824"/>
                </a:lnTo>
                <a:lnTo>
                  <a:pt x="0" y="398386"/>
                </a:lnTo>
              </a:path>
            </a:pathLst>
          </a:custGeom>
          <a:noFill/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841467" y="4121200"/>
            <a:ext cx="274320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841467" y="4121200"/>
            <a:ext cx="274320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alloc</a:t>
            </a:r>
          </a:p>
        </p:txBody>
      </p:sp>
      <p:sp>
        <p:nvSpPr>
          <p:cNvPr id="134" name="Freeform 133"/>
          <p:cNvSpPr/>
          <p:nvPr/>
        </p:nvSpPr>
        <p:spPr>
          <a:xfrm>
            <a:off x="7547750" y="2513155"/>
            <a:ext cx="2596621" cy="1963473"/>
          </a:xfrm>
          <a:custGeom>
            <a:avLst/>
            <a:gdLst/>
            <a:ahLst/>
            <a:cxnLst/>
            <a:rect l="l" t="t" r="r" b="b"/>
            <a:pathLst>
              <a:path w="2596621" h="1963473">
                <a:moveTo>
                  <a:pt x="2596621" y="1963473"/>
                </a:moveTo>
                <a:lnTo>
                  <a:pt x="2596621" y="1636227"/>
                </a:lnTo>
                <a:lnTo>
                  <a:pt x="0" y="1636227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718096"/>
            </a:solidFill>
            <a:prstDash val="dash"/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8571219" y="4078516"/>
            <a:ext cx="457200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571219" y="4078516"/>
            <a:ext cx="457200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invalidate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7547750" y="5102662"/>
            <a:ext cx="256105" cy="0"/>
          </a:xfrm>
          <a:prstGeom prst="line">
            <a:avLst/>
          </a:prstGeom>
          <a:ln w="12700">
            <a:solidFill>
              <a:srgbClr val="718096"/>
            </a:solidFill>
            <a:prstDash val="dash"/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7465490" y="4974884"/>
            <a:ext cx="420623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65490" y="4974884"/>
            <a:ext cx="420623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seal/uses</a:t>
            </a:r>
          </a:p>
        </p:txBody>
      </p:sp>
      <p:cxnSp>
        <p:nvCxnSpPr>
          <p:cNvPr id="140" name="Connector 139"/>
          <p:cNvCxnSpPr/>
          <p:nvPr/>
        </p:nvCxnSpPr>
        <p:spPr>
          <a:xfrm flipV="1">
            <a:off x="4474488" y="3551803"/>
            <a:ext cx="1550859" cy="1003079"/>
          </a:xfrm>
          <a:prstGeom prst="line">
            <a:avLst/>
          </a:prstGeom>
          <a:ln w="20320">
            <a:solidFill>
              <a:srgbClr val="6B46C1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5055882" y="3943350"/>
            <a:ext cx="53035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55882" y="3943350"/>
            <a:ext cx="53035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6B46C1"/>
                </a:solidFill>
                <a:latin typeface="Microsoft YaHei"/>
              </a:rPr>
              <a:t>libejit.a 链入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001018" y="4050060"/>
            <a:ext cx="640080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001018" y="4050060"/>
            <a:ext cx="640080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6B46C1"/>
                </a:solidFill>
                <a:latin typeface="Microsoft YaHei"/>
              </a:rPr>
              <a:t>嵌入 Bitcode 按需加载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2866717" y="3964417"/>
            <a:ext cx="0" cy="56913"/>
          </a:xfrm>
          <a:prstGeom prst="line">
            <a:avLst/>
          </a:prstGeom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3026298" y="3922007"/>
            <a:ext cx="16459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026298" y="3922007"/>
            <a:ext cx="16459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产出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025347" y="6141311"/>
            <a:ext cx="5122103" cy="3557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036320" y="6157770"/>
            <a:ext cx="27432" cy="322783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071067" y="6169767"/>
            <a:ext cx="5067239" cy="337413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LLVM 后端（裁剪）· Trimmed Backend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EJitPassBuilder(~20 analyses) · ARM Cortex-A CodeGen · lipo -&gt; ejit.o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376056" y="4149382"/>
            <a:ext cx="0" cy="1991929"/>
          </a:xfrm>
          <a:prstGeom prst="line">
            <a:avLst/>
          </a:prstGeom>
          <a:ln w="12700">
            <a:solidFill>
              <a:srgbClr val="718096"/>
            </a:solidFill>
            <a:prstDash val="dash"/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9202320" y="5046024"/>
            <a:ext cx="347472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202320" y="5046024"/>
            <a:ext cx="347472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codegen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45524" y="6141311"/>
            <a:ext cx="4837541" cy="355701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7780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91244" y="6169767"/>
            <a:ext cx="4782677" cy="337413"/>
          </a:xfrm>
          <a:prstGeom prst="rect">
            <a:avLst/>
          </a:prstGeom>
          <a:noFill/>
        </p:spPr>
        <p:txBody>
          <a:bodyPr wrap="square" anchor="t" lIns="12700" rIns="12700" tIns="6350" bIns="6350">
            <a:spAutoFit/>
          </a:bodyPr>
          <a:lstStyle/>
          <a:p>
            <a:pPr algn="l"/>
            <a:r>
              <a:rPr sz="850" b="1">
                <a:solidFill>
                  <a:srgbClr val="1F2937"/>
                </a:solidFill>
                <a:latin typeface="Microsoft YaHei"/>
              </a:rPr>
              <a:t>外部系统 · ARM Cortex-A 硬件</a:t>
            </a:r>
          </a:p>
          <a:p>
            <a:pPr algn="l"/>
            <a:r>
              <a:rPr sz="650" b="0">
                <a:solidFill>
                  <a:srgbClr val="4A5568"/>
                </a:solidFill>
                <a:latin typeface="Microsoft YaHei"/>
              </a:rPr>
              <a:t>RAM 100KB–2MB · 软实时 · 执行 AOT 代码与 JIT 特化机器码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2866717" y="5088434"/>
            <a:ext cx="0" cy="1052877"/>
          </a:xfrm>
          <a:prstGeom prst="line">
            <a:avLst/>
          </a:prstGeom>
          <a:ln w="12700">
            <a:solidFill>
              <a:srgbClr val="718096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2711269" y="5544007"/>
            <a:ext cx="310896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711269" y="5544007"/>
            <a:ext cx="310896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4A5568"/>
                </a:solidFill>
                <a:latin typeface="Microsoft YaHei"/>
              </a:rPr>
              <a:t>AOT 执行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3464295" y="5401452"/>
            <a:ext cx="3421850" cy="739859"/>
          </a:xfrm>
          <a:custGeom>
            <a:avLst/>
            <a:gdLst/>
            <a:ahLst/>
            <a:cxnLst/>
            <a:rect l="l" t="t" r="r" b="b"/>
            <a:pathLst>
              <a:path w="3421850" h="739859">
                <a:moveTo>
                  <a:pt x="3421850" y="0"/>
                </a:moveTo>
                <a:lnTo>
                  <a:pt x="3421850" y="426842"/>
                </a:lnTo>
                <a:lnTo>
                  <a:pt x="0" y="426842"/>
                </a:lnTo>
                <a:lnTo>
                  <a:pt x="0" y="739859"/>
                </a:lnTo>
              </a:path>
            </a:pathLst>
          </a:custGeom>
          <a:noFill/>
          <a:ln w="20320">
            <a:solidFill>
              <a:srgbClr val="6B46C1"/>
            </a:solidFill>
            <a:headEnd type="none" w="sm" len="sm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5058899" y="5757428"/>
            <a:ext cx="310896" cy="141732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5058899" y="5757428"/>
            <a:ext cx="310896" cy="141732"/>
          </a:xfrm>
          <a:prstGeom prst="rect">
            <a:avLst/>
          </a:prstGeom>
          <a:noFill/>
        </p:spPr>
        <p:txBody>
          <a:bodyPr wrap="none" lIns="6350" rIns="6350" tIns="0" bIns="0" anchor="ctr">
            <a:spAutoFit/>
          </a:bodyPr>
          <a:lstStyle/>
          <a:p>
            <a:pPr algn="ctr"/>
            <a:r>
              <a:rPr sz="700" b="1">
                <a:solidFill>
                  <a:srgbClr val="6B46C1"/>
                </a:solidFill>
                <a:latin typeface="Microsoft YaHei"/>
              </a:rPr>
              <a:t>JIT 执行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32104" y="6601968"/>
            <a:ext cx="329184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32104" y="6583680"/>
            <a:ext cx="10515600" cy="201168"/>
          </a:xfrm>
          <a:prstGeom prst="rect">
            <a:avLst/>
          </a:prstGeom>
          <a:noFill/>
        </p:spPr>
        <p:txBody>
          <a:bodyPr wrap="square" anchor="ctr" lIns="12700" rIns="12700" tIns="6350" bIns="6350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Microsoft YaHei"/>
              </a:rPr>
              <a:t>图例：</a:t>
            </a:r>
          </a:p>
          <a:p>
            <a:pPr algn="l"/>
            <a:r>
              <a:rPr sz="800" b="0">
                <a:solidFill>
                  <a:srgbClr val="718096"/>
                </a:solidFill>
                <a:latin typeface="Microsoft YaHei"/>
              </a:rPr>
              <a:t>  ── 调用 / 数据流      </a:t>
            </a:r>
          </a:p>
          <a:p>
            <a:pPr algn="l"/>
            <a:r>
              <a:rPr sz="800" b="0">
                <a:solidFill>
                  <a:srgbClr val="718096"/>
                </a:solidFill>
                <a:latin typeface="Microsoft YaHei"/>
              </a:rPr>
              <a:t>- - 依赖 / 读取 / 失效通知      </a:t>
            </a:r>
          </a:p>
          <a:p>
            <a:pPr algn="l"/>
            <a:r>
              <a:rPr sz="800" b="0">
                <a:solidFill>
                  <a:srgbClr val="6B46C1"/>
                </a:solidFill>
                <a:latin typeface="Microsoft YaHei"/>
              </a:rPr>
              <a:t>  ━━ 核心关系（编译引擎 / 桥接 / 执行）   ·   虚线框 = 外部系统   ·   连线为组件协作关系，非执行顺序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