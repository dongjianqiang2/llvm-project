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D3748"/>
                </a:solidFill>
                <a:latin typeface="微软雅黑"/>
              </a:rPr>
              <a:t>EJIT 整体架构与完成情况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EmbeddedJIT · 时间窗常量 + 运行时特化 · 2026-05 ~ 2026-09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12191695" cy="13716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50392"/>
            <a:ext cx="7818120" cy="34747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50392"/>
            <a:ext cx="7818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</a:rPr>
              <a:t>① 范式: 时间窗常量 + 运行时特化</a:t>
            </a:r>
            <a:r>
              <a:rPr sz="1150" b="1">
                <a:solidFill>
                  <a:srgbClr val="8EE3B8"/>
                </a:solidFill>
                <a:latin typeface="微软雅黑"/>
              </a:rPr>
              <a:t>  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7660" y="1197864"/>
            <a:ext cx="1828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8C8C8C"/>
                </a:solidFill>
                <a:latin typeface="微软雅黑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07592"/>
            <a:ext cx="7818120" cy="438912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35024"/>
            <a:ext cx="7543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源码层  </a:t>
            </a:r>
            <a:r>
              <a:rPr sz="1050" b="1">
                <a:solidFill>
                  <a:srgbClr val="FFFFFF"/>
                </a:solidFill>
                <a:latin typeface="微软雅黑"/>
              </a:rPr>
              <a:t>② Clang 8 属性标注面</a:t>
            </a:r>
            <a:r>
              <a:rPr sz="1100" b="1">
                <a:solidFill>
                  <a:srgbClr val="8EE3B8"/>
                </a:solidFill>
                <a:latin typeface="微软雅黑"/>
              </a:rPr>
              <a:t>   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45336"/>
            <a:ext cx="7543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8C8C8"/>
                </a:solidFill>
                <a:latin typeface="微软雅黑"/>
              </a:rPr>
              <a:t>ejit_entry / ejit_period / ejit_period_arr / ejit_dim / ejit_may_const / ejit_period_lc / ejit_bound_ptr / ejit_free_dim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7660" y="1746504"/>
            <a:ext cx="1828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8C8C8C"/>
                </a:solidFill>
                <a:latin typeface="微软雅黑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56232"/>
            <a:ext cx="7818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1856232"/>
            <a:ext cx="64008" cy="80467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1883664"/>
            <a:ext cx="7543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AOT 编译期 (两阶段 · 5 Pass)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2112264"/>
            <a:ext cx="7543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O2前: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③ 两阶段bitcode提取(entry-first+闭包瘦身)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④ may_const双重保留+预优化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⑤ 协调器PASS5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2368296"/>
            <a:ext cx="7543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O2后: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⑥ Period注册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⑦ 单函数Wrapper+稠密索引(嵌套entry边界)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⑧ 生命周期护栏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⑨ 双轨注册+指纹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7660" y="2660904"/>
            <a:ext cx="1828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8C8C8C"/>
                </a:solidFill>
                <a:latin typeface="微软雅黑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770632"/>
            <a:ext cx="781812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770632"/>
            <a:ext cx="64008" cy="1133856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2798064"/>
            <a:ext cx="7543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运行时特化引擎</a:t>
            </a:r>
            <a:r>
              <a:rPr sz="850" b="0">
                <a:solidFill>
                  <a:srgbClr val="8C8C8C"/>
                </a:solidFill>
                <a:latin typeface="微软雅黑"/>
              </a:rPr>
              <a:t>  业务调用 → wrapper → 命中缓存跳转 / 失败 fallback AOT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3026664"/>
            <a:ext cx="7543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⑩ 缓存LRU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→ ⑪ 调度器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→ ⑫ Bitcode加载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→ ⑬ 优化流水线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C5282"/>
                </a:solidFill>
                <a:latin typeface="微软雅黑"/>
              </a:rPr>
              <a:t>→ ⑭ PASS6字段替换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→ ⑮ OrcJIT(JITLink+relax stub)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3246120"/>
            <a:ext cx="7543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代码内存: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⑯ EJitCodePool (2MiB固定语义池 + 4K-seal + rodata折叠 + Tier-1远池)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3465576"/>
            <a:ext cx="7543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命中加速: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㉗ 多版本内联缓存 (frame-less 4指令命中)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→ ㉘ 共享分区表 (跨核原位清零失效)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3685032"/>
            <a:ext cx="7543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在线反馈: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㉙ PGO双tier (Tier-1采样→Tier-2特化)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+ ㉚ 值剖析</a:t>
            </a:r>
            <a:r>
              <a:rPr sz="900" b="1">
                <a:solidFill>
                  <a:srgbClr val="D69E2E"/>
                </a:solidFill>
                <a:latin typeface="微软雅黑"/>
              </a:rPr>
              <a:t>⚙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+ ㉛ 冷回收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7660" y="3904488"/>
            <a:ext cx="1828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8C8C8C"/>
                </a:solidFill>
                <a:latin typeface="微软雅黑"/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014216"/>
            <a:ext cx="7818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014216"/>
            <a:ext cx="64008" cy="512064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4041648"/>
            <a:ext cx="7543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异步编译调度 / Taskpool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4251960"/>
            <a:ext cx="7543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⑰ 单worker调度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⑱ 跨核共享单worker (fixed-core pinning)</a:t>
            </a:r>
            <a:r>
              <a:rPr sz="900" b="1">
                <a:solidFill>
                  <a:srgbClr val="DD6B20"/>
                </a:solidFill>
                <a:latin typeface="微软雅黑"/>
              </a:rPr>
              <a:t>△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⑲ 无锁队列+去重+分桶+查询性能模型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⑳ version失效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544568"/>
            <a:ext cx="78181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544568"/>
            <a:ext cx="64008" cy="7315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" y="4572000"/>
            <a:ext cx="7543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横切支柱 (贯穿所有层)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4782312"/>
            <a:ext cx="7543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㉑ 稠密槽注册表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㉒ 注册暂存+冻结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㉓ SRE平台抽象</a:t>
            </a:r>
            <a:r>
              <a:rPr sz="900" b="1">
                <a:solidFill>
                  <a:srgbClr val="DD6B20"/>
                </a:solidFill>
                <a:latin typeface="微软雅黑"/>
              </a:rPr>
              <a:t>△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㉔ 并发原语层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5020056"/>
            <a:ext cx="7543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㉕ LLVM裁剪三层 (53.a 117MB→单ejit.o 32MB)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㉖ BareMetal裸核 (+aarch64_be大端)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294376"/>
            <a:ext cx="781812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5294376"/>
            <a:ext cx="64008" cy="676656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" y="5321808"/>
            <a:ext cx="7543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深化与加固 (Q3 · 07~09月)</a:t>
            </a:r>
            <a:r>
              <a:rPr sz="850" b="0">
                <a:solidFill>
                  <a:srgbClr val="8C8C8C"/>
                </a:solidFill>
                <a:latin typeface="微软雅黑"/>
              </a:rPr>
              <a:t>  从「能跑」到「快而可观测」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5532120"/>
            <a:ext cx="7543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㉜ bound_ptr维度绑定指针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㉝ free_dim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㉞ may_const收益排序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㉟ bitcode闭包瘦身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" y="5751576"/>
            <a:ext cx="7543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㊱ 替换验证器</a:t>
            </a:r>
            <a:r>
              <a:rPr sz="900" b="1">
                <a:solidFill>
                  <a:srgbClr val="D69E2E"/>
                </a:solidFill>
                <a:latin typeface="微软雅黑"/>
              </a:rPr>
              <a:t>⚙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㊲ 函数体周期计时</a:t>
            </a:r>
            <a:r>
              <a:rPr sz="900" b="1">
                <a:solidFill>
                  <a:srgbClr val="D69E2E"/>
                </a:solidFill>
                <a:latin typeface="微软雅黑"/>
              </a:rPr>
              <a:t>⚙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㊳ 分支剖析审计</a:t>
            </a:r>
            <a:r>
              <a:rPr sz="900" b="1">
                <a:solidFill>
                  <a:srgbClr val="D69E2E"/>
                </a:solidFill>
                <a:latin typeface="微软雅黑"/>
              </a:rPr>
              <a:t>⚙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㊴ 诊断体系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  <a:r>
              <a:rPr sz="900" b="1">
                <a:solidFill>
                  <a:srgbClr val="2D3748"/>
                </a:solidFill>
                <a:latin typeface="微软雅黑"/>
              </a:rPr>
              <a:t>㊵ 后端裁剪增强</a:t>
            </a:r>
            <a:r>
              <a:rPr sz="9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595959"/>
                </a:solidFill>
                <a:latin typeface="微软雅黑"/>
              </a:rPr>
              <a:t>  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868680"/>
            <a:ext cx="3611880" cy="36576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868680"/>
            <a:ext cx="3611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完成情况统计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1325880"/>
            <a:ext cx="36118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75320" y="1325880"/>
            <a:ext cx="64008" cy="731520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9912" y="1325880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D3748"/>
                </a:solidFill>
                <a:latin typeface="微软雅黑"/>
              </a:rPr>
              <a:t>34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14173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8A16F"/>
                </a:solidFill>
                <a:latin typeface="微软雅黑"/>
              </a:rPr>
              <a:t>✓ 已实现使用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1728216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代码完成并接入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20" y="2148840"/>
            <a:ext cx="36118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75320" y="2148840"/>
            <a:ext cx="64008" cy="731520"/>
          </a:xfrm>
          <a:prstGeom prst="rect">
            <a:avLst/>
          </a:prstGeom>
          <a:solidFill>
            <a:srgbClr val="D69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39912" y="2148840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D3748"/>
                </a:solidFill>
                <a:latin typeface="微软雅黑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22402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D69E2E"/>
                </a:solidFill>
                <a:latin typeface="微软雅黑"/>
              </a:rPr>
              <a:t>⚙ 默认OFF实验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20" y="2551176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验证器/计时/审计/值剖析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75320" y="2971800"/>
            <a:ext cx="36118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75320" y="2971800"/>
            <a:ext cx="64008" cy="73152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39912" y="2971800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D3748"/>
                </a:solidFill>
                <a:latin typeface="微软雅黑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306324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DD6B20"/>
                </a:solidFill>
                <a:latin typeface="微软雅黑"/>
              </a:rPr>
              <a:t>△ 代码完成待真机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9720" y="3374136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待 aarch64 SRE多核验证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75320" y="3794760"/>
            <a:ext cx="3611880" cy="41148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85048" y="3794760"/>
            <a:ext cx="339242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40 个技术点 · 覆盖 6 个域 · 8 属性 · 7 Pass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5320" y="4297680"/>
            <a:ext cx="3611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▎工作量数据 (相对 release/21.x)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75320" y="4590288"/>
            <a:ext cx="1764792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85048" y="4590288"/>
            <a:ext cx="914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5282"/>
                </a:solidFill>
                <a:latin typeface="微软雅黑"/>
              </a:rPr>
              <a:t>96.9K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9720" y="4590288"/>
            <a:ext cx="84124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</a:rPr>
              <a:t>全部增量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31551" y="4590288"/>
            <a:ext cx="1764792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41279" y="4590288"/>
            <a:ext cx="914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5282"/>
                </a:solidFill>
                <a:latin typeface="微软雅黑"/>
              </a:rPr>
              <a:t>76.2K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45951" y="4590288"/>
            <a:ext cx="84124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</a:rPr>
              <a:t>代码增量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75320" y="5029200"/>
            <a:ext cx="1764792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85048" y="5029200"/>
            <a:ext cx="914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5282"/>
                </a:solidFill>
                <a:latin typeface="微软雅黑"/>
              </a:rPr>
              <a:t>39.2K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89720" y="5029200"/>
            <a:ext cx="84124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</a:rPr>
              <a:t>测试/验证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131551" y="5029200"/>
            <a:ext cx="1764792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241279" y="5029200"/>
            <a:ext cx="914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5282"/>
                </a:solidFill>
                <a:latin typeface="微软雅黑"/>
              </a:rPr>
              <a:t>639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45951" y="5029200"/>
            <a:ext cx="84124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</a:rPr>
              <a:t>分支提交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75320" y="5468112"/>
            <a:ext cx="1764792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85048" y="5468112"/>
            <a:ext cx="914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5282"/>
                </a:solidFill>
                <a:latin typeface="微软雅黑"/>
              </a:rPr>
              <a:t>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89720" y="5468112"/>
            <a:ext cx="84124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</a:rPr>
              <a:t>设计文档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31551" y="5468112"/>
            <a:ext cx="1764792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241279" y="5468112"/>
            <a:ext cx="914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5282"/>
                </a:solidFill>
                <a:latin typeface="微软雅黑"/>
              </a:rPr>
              <a:t>aarch64_be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45951" y="5468112"/>
            <a:ext cx="84124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</a:rPr>
              <a:t>SRE裸核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234440" y="6492240"/>
            <a:ext cx="10469880" cy="32004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8952" y="6035040"/>
            <a:ext cx="950976" cy="21945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2D3748"/>
                </a:solidFill>
                <a:latin typeface="微软雅黑"/>
              </a:rPr>
              <a:t>立项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8952" y="6263640"/>
            <a:ext cx="950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C5282"/>
                </a:solidFill>
                <a:latin typeface="微软雅黑"/>
              </a:rPr>
              <a:t>05.03</a:t>
            </a:r>
          </a:p>
        </p:txBody>
      </p:sp>
      <p:sp>
        <p:nvSpPr>
          <p:cNvPr id="83" name="Oval 82"/>
          <p:cNvSpPr/>
          <p:nvPr/>
        </p:nvSpPr>
        <p:spPr>
          <a:xfrm>
            <a:off x="1184148" y="6455664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710759" y="6035040"/>
            <a:ext cx="950976" cy="21945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2D3748"/>
                </a:solidFill>
                <a:latin typeface="微软雅黑"/>
              </a:rPr>
              <a:t>AOT主体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710759" y="6263640"/>
            <a:ext cx="950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C5282"/>
                </a:solidFill>
                <a:latin typeface="微软雅黑"/>
              </a:rPr>
              <a:t>05.04</a:t>
            </a:r>
          </a:p>
        </p:txBody>
      </p:sp>
      <p:sp>
        <p:nvSpPr>
          <p:cNvPr id="86" name="Oval 85"/>
          <p:cNvSpPr/>
          <p:nvPr/>
        </p:nvSpPr>
        <p:spPr>
          <a:xfrm>
            <a:off x="2135955" y="6455664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662566" y="6035040"/>
            <a:ext cx="950976" cy="21945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2D3748"/>
                </a:solidFill>
                <a:latin typeface="微软雅黑"/>
              </a:rPr>
              <a:t>demo打通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62566" y="6263640"/>
            <a:ext cx="950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C5282"/>
                </a:solidFill>
                <a:latin typeface="微软雅黑"/>
              </a:rPr>
              <a:t>06.16</a:t>
            </a:r>
          </a:p>
        </p:txBody>
      </p:sp>
      <p:sp>
        <p:nvSpPr>
          <p:cNvPr id="89" name="Oval 88"/>
          <p:cNvSpPr/>
          <p:nvPr/>
        </p:nvSpPr>
        <p:spPr>
          <a:xfrm>
            <a:off x="3087762" y="6455664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14373" y="6035040"/>
            <a:ext cx="950976" cy="21945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2D3748"/>
                </a:solidFill>
                <a:latin typeface="微软雅黑"/>
              </a:rPr>
              <a:t>共享worker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14373" y="6263640"/>
            <a:ext cx="950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C5282"/>
                </a:solidFill>
                <a:latin typeface="微软雅黑"/>
              </a:rPr>
              <a:t>06.27</a:t>
            </a:r>
          </a:p>
        </p:txBody>
      </p:sp>
      <p:sp>
        <p:nvSpPr>
          <p:cNvPr id="92" name="Oval 91"/>
          <p:cNvSpPr/>
          <p:nvPr/>
        </p:nvSpPr>
        <p:spPr>
          <a:xfrm>
            <a:off x="4039569" y="6455664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66181" y="6035040"/>
            <a:ext cx="950976" cy="21945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2D3748"/>
                </a:solidFill>
                <a:latin typeface="微软雅黑"/>
              </a:rPr>
              <a:t>诊断+裁剪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66181" y="6263640"/>
            <a:ext cx="950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C5282"/>
                </a:solidFill>
                <a:latin typeface="微软雅黑"/>
              </a:rPr>
              <a:t>07.05</a:t>
            </a:r>
          </a:p>
        </p:txBody>
      </p:sp>
      <p:sp>
        <p:nvSpPr>
          <p:cNvPr id="95" name="Oval 94"/>
          <p:cNvSpPr/>
          <p:nvPr/>
        </p:nvSpPr>
        <p:spPr>
          <a:xfrm>
            <a:off x="4991377" y="6455664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517988" y="6035040"/>
            <a:ext cx="950976" cy="21945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2D3748"/>
                </a:solidFill>
                <a:latin typeface="微软雅黑"/>
              </a:rPr>
              <a:t>icache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17988" y="6263640"/>
            <a:ext cx="950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C5282"/>
                </a:solidFill>
                <a:latin typeface="微软雅黑"/>
              </a:rPr>
              <a:t>07.28</a:t>
            </a:r>
          </a:p>
        </p:txBody>
      </p:sp>
      <p:sp>
        <p:nvSpPr>
          <p:cNvPr id="98" name="Oval 97"/>
          <p:cNvSpPr/>
          <p:nvPr/>
        </p:nvSpPr>
        <p:spPr>
          <a:xfrm>
            <a:off x="5943184" y="6455664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69795" y="6035040"/>
            <a:ext cx="950976" cy="21945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2D3748"/>
                </a:solidFill>
                <a:latin typeface="微软雅黑"/>
              </a:rPr>
              <a:t>在线PGO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69795" y="6263640"/>
            <a:ext cx="950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C5282"/>
                </a:solidFill>
                <a:latin typeface="微软雅黑"/>
              </a:rPr>
              <a:t>08.14</a:t>
            </a:r>
          </a:p>
        </p:txBody>
      </p:sp>
      <p:sp>
        <p:nvSpPr>
          <p:cNvPr id="101" name="Oval 100"/>
          <p:cNvSpPr/>
          <p:nvPr/>
        </p:nvSpPr>
        <p:spPr>
          <a:xfrm>
            <a:off x="6894991" y="6455664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21602" y="6035040"/>
            <a:ext cx="950976" cy="21945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2D3748"/>
                </a:solidFill>
                <a:latin typeface="微软雅黑"/>
              </a:rPr>
              <a:t>验证器+瘦身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21602" y="6263640"/>
            <a:ext cx="950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C5282"/>
                </a:solidFill>
                <a:latin typeface="微软雅黑"/>
              </a:rPr>
              <a:t>08.20</a:t>
            </a:r>
          </a:p>
        </p:txBody>
      </p:sp>
      <p:sp>
        <p:nvSpPr>
          <p:cNvPr id="104" name="Oval 103"/>
          <p:cNvSpPr/>
          <p:nvPr/>
        </p:nvSpPr>
        <p:spPr>
          <a:xfrm>
            <a:off x="7846798" y="6455664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373410" y="6035040"/>
            <a:ext cx="950976" cy="21945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2D3748"/>
                </a:solidFill>
                <a:latin typeface="微软雅黑"/>
              </a:rPr>
              <a:t>bound-ptr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73410" y="6263640"/>
            <a:ext cx="950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C5282"/>
                </a:solidFill>
                <a:latin typeface="微软雅黑"/>
              </a:rPr>
              <a:t>08.26</a:t>
            </a:r>
          </a:p>
        </p:txBody>
      </p:sp>
      <p:sp>
        <p:nvSpPr>
          <p:cNvPr id="107" name="Oval 106"/>
          <p:cNvSpPr/>
          <p:nvPr/>
        </p:nvSpPr>
        <p:spPr>
          <a:xfrm>
            <a:off x="8798606" y="6455664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325217" y="6035040"/>
            <a:ext cx="950976" cy="21945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2D3748"/>
                </a:solidFill>
                <a:latin typeface="微软雅黑"/>
              </a:rPr>
              <a:t>语义池+seal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325217" y="6263640"/>
            <a:ext cx="950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C5282"/>
                </a:solidFill>
                <a:latin typeface="微软雅黑"/>
              </a:rPr>
              <a:t>09.02</a:t>
            </a:r>
          </a:p>
        </p:txBody>
      </p:sp>
      <p:sp>
        <p:nvSpPr>
          <p:cNvPr id="110" name="Oval 109"/>
          <p:cNvSpPr/>
          <p:nvPr/>
        </p:nvSpPr>
        <p:spPr>
          <a:xfrm>
            <a:off x="9750413" y="6455664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77024" y="6035040"/>
            <a:ext cx="950976" cy="21945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2D3748"/>
                </a:solidFill>
                <a:latin typeface="微软雅黑"/>
              </a:rPr>
              <a:t>PGO冷恢复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277024" y="6263640"/>
            <a:ext cx="950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C5282"/>
                </a:solidFill>
                <a:latin typeface="微软雅黑"/>
              </a:rPr>
              <a:t>09.09</a:t>
            </a:r>
          </a:p>
        </p:txBody>
      </p:sp>
      <p:sp>
        <p:nvSpPr>
          <p:cNvPr id="113" name="Oval 112"/>
          <p:cNvSpPr/>
          <p:nvPr/>
        </p:nvSpPr>
        <p:spPr>
          <a:xfrm>
            <a:off x="10702220" y="6455664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228832" y="6035040"/>
            <a:ext cx="950976" cy="21945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2D3748"/>
                </a:solidFill>
                <a:latin typeface="微软雅黑"/>
              </a:rPr>
              <a:t>free_dim收官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228832" y="6263640"/>
            <a:ext cx="950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C5282"/>
                </a:solidFill>
                <a:latin typeface="微软雅黑"/>
              </a:rPr>
              <a:t>09.15</a:t>
            </a:r>
          </a:p>
        </p:txBody>
      </p:sp>
      <p:sp>
        <p:nvSpPr>
          <p:cNvPr id="116" name="Oval 115"/>
          <p:cNvSpPr/>
          <p:nvPr/>
        </p:nvSpPr>
        <p:spPr>
          <a:xfrm>
            <a:off x="11654028" y="6455664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D3748"/>
                </a:solidFill>
                <a:latin typeface="微软雅黑"/>
              </a:rPr>
              <a:t>EJIT 详细技术项 · 核心架构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26 个技术点 · 6 个域 · 架构搭建期 (2026-05 ~ 2026-06) · 实现状态 · 关键设计决策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12191695" cy="13716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384048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60120"/>
            <a:ext cx="3840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960120"/>
            <a:ext cx="3063240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3063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技术点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21608" y="960120"/>
            <a:ext cx="777240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960120"/>
            <a:ext cx="777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960120"/>
            <a:ext cx="566928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960120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状态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960120"/>
            <a:ext cx="6446520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960120"/>
            <a:ext cx="6446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关键设计决策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289304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1289304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21608" y="1289304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98848" y="1289304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65776" y="1289304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128930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128930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时间窗常量+运行时特化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1608" y="128930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全局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08576" y="131216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31216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1496" y="128930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立身之本: 时间窗内数据当编译期常量特化, 失败回退AOT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469440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1469440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21608" y="1469440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98848" y="1469440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65776" y="1469440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146944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146944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Clang 属性标注面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21608" y="146944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前端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08576" y="149230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08576" y="149230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11496" y="146944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6基础属性 Attr.td→SemaEJIT→CGEJIT 全链路; may_const软标注丢失安全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649576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1649576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21608" y="1649576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8848" y="1649576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65776" y="1649576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164957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" y="164957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两阶段 bitcode 提取嵌入 PASS1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21608" y="164957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08576" y="1672436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08576" y="167243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11496" y="164957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O2前提取调用图闭包, embed @__ejit_bitcode; entry定义排前+闭包瘦身(Q3)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1829712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368" y="1829712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721608" y="1829712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98848" y="1829712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65776" y="1829712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182971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" y="182971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may_const 双重保留 + AOT预优化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21608" y="182971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08576" y="185257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08576" y="185257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11496" y="182971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LLVM层kind保留 + GV偏移回退(v1.7) + reAnnotate; PASS1↔PASS6纽带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2009848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58368" y="2009848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721608" y="2009848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98848" y="2009848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65776" y="2009848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200984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8" y="200984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AOT 协调器 PASS5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21608" y="200984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08576" y="203270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08576" y="203270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11496" y="200984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调度PASS2→3→4 + hasAnyEjitMetadata快速返回 + 一致性诊断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2189984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58368" y="2189984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721608" y="2189984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98848" y="2189984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065776" y="2189984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218998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4088" y="218998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Period/静态变量注册 PASS2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21608" y="218998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08576" y="221284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08576" y="221284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11496" y="218998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生成 ejit_register_period_array / static_var 注册调用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2370120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58368" y="2370120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721608" y="2370120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498848" y="2370120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065776" y="2370120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237012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⑦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4088" y="237012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单函数 Wrapper + 稠密索引 PASS3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21608" y="237012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08576" y="239298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608576" y="239298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11496" y="237012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名字哈希→稠密funcIndex(防碰撞); 嵌套entry特化边界保留; JIT失败fall原函数体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2550256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8368" y="2550256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721608" y="2550256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498848" y="2550256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065776" y="2550256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20" y="255025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⑧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4088" y="255025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时间窗生命周期护栏 PASS4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21608" y="255025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08576" y="2573116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608576" y="257311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11496" y="255025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ejit_period_lc 函数入口deactivate / 出口activate, 同序配对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2730392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8368" y="2730392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721608" y="2730392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498848" y="2730392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065776" y="2730392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4320" y="273039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⑨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04088" y="273039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双轨运行时注册体系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21608" y="273039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608576" y="275325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608576" y="275325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111496" y="273039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global_ctors构造器 + __ejit_registry_*[]静态表(裸核); 指纹重建+强制静态注册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2910528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58368" y="2910528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721608" y="2910528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498848" y="2910528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065776" y="2910528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74320" y="291052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⑩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4088" y="291052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编译缓存 LRU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721608" y="291052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08576" y="293338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608576" y="293338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111496" y="291052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iterator内嵌O(1); cacheKey=funcIdx&lt;&lt;32|dims; 三重上限+period失效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3090664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58368" y="3090664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721608" y="3090664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98848" y="3090664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065776" y="3090664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74320" y="309066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⑪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04088" y="309066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编译调度器 CompileDriver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721608" y="309066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08576" y="311352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608576" y="311352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111496" y="309066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热路径单哈希查缓存, miss走compileCold(解码/验证/编译/入缓存)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" y="3270800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58368" y="3270800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721608" y="3270800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498848" y="3270800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65776" y="3270800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74320" y="327080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⑫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04088" y="327080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Bitcode 加载器 ModuleLoader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721608" y="327080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608576" y="329366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608576" y="329366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111496" y="327080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funcIdx稠密键(非funcName); 缓存period元数据; 幂等/冲突拒绝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74320" y="3450936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58368" y="3450936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721608" y="3450936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498848" y="3450936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065776" y="3450936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345093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⑬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04088" y="345093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JIT 优化流水线 EJitOptimizer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721608" y="345093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608576" y="3473796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608576" y="347379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111496" y="345093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参数替换→InstCombine→PASS6→L1/L2/L3; Inline禁用(AOT预内联)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74320" y="3631072"/>
            <a:ext cx="384048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58368" y="3631072"/>
            <a:ext cx="3063240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721608" y="3631072"/>
            <a:ext cx="777240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498848" y="3631072"/>
            <a:ext cx="566928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065776" y="3631072"/>
            <a:ext cx="6446520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74320" y="363107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⑭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04088" y="363107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结构体字段常量替换 PASS6 ★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721608" y="363107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608576" y="365393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608576" y="365393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111496" y="363107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2C5282"/>
                </a:solidFill>
                <a:latin typeface="微软雅黑"/>
              </a:rPr>
              <a:t>核心价值: may_const load→GEP算offset→读内存→构造Constant; 三模式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4320" y="3811208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58368" y="3811208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721608" y="3811208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498848" y="3811208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5065776" y="3811208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74320" y="381120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⑮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04088" y="381120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OrcJIT 引擎 EJitOrcEngine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721608" y="381120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608576" y="383406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608576" y="383406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111496" y="381120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LLJIT+JITLink替代MCJIT; per-cacheKey JITDylib隔离; Large code model; relax分支stub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4320" y="3991344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58368" y="3991344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3721608" y="3991344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498848" y="3991344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065776" y="3991344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74320" y="399134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⑯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04088" y="399134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SRE 机器码内存池 EJitCodePool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721608" y="399134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608576" y="401420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608576" y="401420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111496" y="399134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2MiB固定语义池+near-hot 4K-seal+rodata折叠exec段; Tier-1远池; callback注入可单测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74320" y="4171480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58368" y="4171480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3721608" y="4171480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498848" y="4171480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065776" y="4171480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274320" y="417148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⑰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04088" y="417148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纯异步单 worker 调度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721608" y="417148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taskpool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608576" y="419434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608576" y="419434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111496" y="417148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producer入队即返回fallback, 平台task上单worker轮询; CompileCallback解耦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274320" y="4351616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58368" y="4351616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3721608" y="4351616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498848" y="4351616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065776" y="4351616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274320" y="435161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⑱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04088" y="435161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跨核共享单 worker taskpool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721608" y="435161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taskpool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608576" y="4374476"/>
            <a:ext cx="310896" cy="134416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4608576" y="437447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△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111496" y="435161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POD共享blob+CAS选举owner; generation代际隔离; fixed-core pinning; 代码✓待真机验证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74320" y="4531752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8368" y="4531752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3721608" y="4531752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498848" y="4531752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5065776" y="4531752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274320" y="453175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⑲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704088" y="453175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无锁队列+去重+分桶缓存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3721608" y="453175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taskpool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608576" y="455461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4608576" y="455461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111496" y="453175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Vyukov MPSC; 32桶隔离rehash; commit gate锁内校验; 查询路径性能模型+bench实测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74320" y="4711888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58368" y="4711888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3721608" y="4711888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498848" y="4711888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065776" y="4711888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274320" y="471188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⑳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04088" y="471188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SwitchController version 失效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721608" y="471188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taskpool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608576" y="473474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4608576" y="473474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111496" y="471188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逐实例version单调; toggle后三层全懒失效; 8×256二维数组零分配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274320" y="4892024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58368" y="4892024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3721608" y="4892024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498848" y="4892024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065776" y="4892024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274320" y="489202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㉑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704088" y="489202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稠密槽注册表管理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3721608" y="489202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4608576" y="491488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4608576" y="491488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111496" y="489202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注册期单线程分配稠密槽(lifecycle[0,8)/funcIndex[0,4096)), 无锁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274320" y="5072160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58368" y="5072160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3721608" y="5072160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498848" y="5072160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5065776" y="5072160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274320" y="507216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㉒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04088" y="507216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注册暂存 + 双路径 + 冻结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721608" y="507216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4608576" y="509502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4608576" y="509502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111496" y="507216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构造期暂存→init消费; 构造器/静态表双路径; taskpool下冻结注册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274320" y="5252296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658368" y="5252296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3721608" y="5252296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4498848" y="5252296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5065776" y="5252296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274320" y="525229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㉓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704088" y="525229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SRE 平台抽象层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3721608" y="525229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4608576" y="5275156"/>
            <a:ext cx="310896" cy="134416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4608576" y="527515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△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111496" y="525229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头抽象+链接择一; 平台符号无weak fallback(缺失即链接错); host✓ SRE待接入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274320" y="5432432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658368" y="5432432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3721608" y="5432432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4498848" y="5432432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65776" y="5432432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543243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㉔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704088" y="543243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并发原语层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3721608" y="543243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4608576" y="545529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4608576" y="545529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5111496" y="543243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EJitAtomic(__atomic_*)/EJitRwLock(双变量)/EJitIpcLock(短临界区)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274320" y="5612568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658368" y="5612568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3721608" y="5612568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4498848" y="5612568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5065776" y="5612568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274320" y="561256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㉕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704088" y="561256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LLVM 裁剪三层体系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3721608" y="561256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4608576" y="563542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4608576" y="563542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111496" y="561256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源码宏排除+EJitPassBuilder+lipo.py; 53.a(117MB)→单ejit.o 32MB; 后端裁剪增强(Q3)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274320" y="5792704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658368" y="5792704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3721608" y="5792704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4498848" y="5792704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5065776" y="5792704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274320" y="579270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㉖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704088" y="579270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BareMetal 裸核运行时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3721608" y="579270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4608576" y="581556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4608576" y="581556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5111496" y="579270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EJIT_FREESTANDING; no-op std头+POSIX桩库; std::mutex→BareMetalMutex; aarch64_be大端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274320" y="6064280"/>
            <a:ext cx="1161288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457200" y="6064280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图例:  </a:t>
            </a:r>
            <a:r>
              <a:rPr sz="11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50" b="0">
                <a:solidFill>
                  <a:srgbClr val="595959"/>
                </a:solidFill>
                <a:latin typeface="微软雅黑"/>
              </a:rPr>
              <a:t> 已实现使用(24)   </a:t>
            </a:r>
            <a:r>
              <a:rPr sz="1100" b="1">
                <a:solidFill>
                  <a:srgbClr val="DD6B20"/>
                </a:solidFill>
                <a:latin typeface="微软雅黑"/>
              </a:rPr>
              <a:t>△</a:t>
            </a:r>
            <a:r>
              <a:rPr sz="950" b="0">
                <a:solidFill>
                  <a:srgbClr val="595959"/>
                </a:solidFill>
                <a:latin typeface="微软雅黑"/>
              </a:rPr>
              <a:t> 代码完成待真机验证(2)   </a:t>
            </a:r>
            <a:r>
              <a:rPr sz="950" b="1">
                <a:solidFill>
                  <a:srgbClr val="2C5282"/>
                </a:solidFill>
                <a:latin typeface="微软雅黑"/>
              </a:rPr>
              <a:t>    ★ 核心价值;  Q3 深化项(㉗~㊵)见下页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D3748"/>
                </a:solidFill>
                <a:latin typeface="微软雅黑"/>
              </a:rPr>
              <a:t>EJIT 深化与加固技术项 (Q3)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14 个技术点 · 2026-07 ~ 2026-09 · 从「能跑」到「快而可观测」 · 3 大主线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12191695" cy="13716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384048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60120"/>
            <a:ext cx="3840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960120"/>
            <a:ext cx="2514600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2514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技术点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960120"/>
            <a:ext cx="777240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960120"/>
            <a:ext cx="777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50208" y="960120"/>
            <a:ext cx="566928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0208" y="960120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状态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7136" y="960120"/>
            <a:ext cx="6995160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960120"/>
            <a:ext cx="6995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关键设计决策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289304"/>
            <a:ext cx="384048" cy="237744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1289304"/>
            <a:ext cx="2514600" cy="237744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72968" y="1289304"/>
            <a:ext cx="777240" cy="237744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50208" y="1289304"/>
            <a:ext cx="566928" cy="237744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17136" y="1289304"/>
            <a:ext cx="6995160" cy="237744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1289304"/>
            <a:ext cx="38404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1289304"/>
            <a:ext cx="2423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多版本内联缓存 icache 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2968" y="1289304"/>
            <a:ext cx="777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9936" y="1321308"/>
            <a:ext cx="310896" cy="17373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59936" y="1321308"/>
            <a:ext cx="31089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1289304"/>
            <a:ext cx="6903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C5282"/>
                </a:solidFill>
                <a:latin typeface="微软雅黑"/>
              </a:rPr>
              <a:t>[D]^numDims 每身份一槽; frame-less命中路径(load+musttail,4指令); NO_RECLAIM免版本校验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527048"/>
            <a:ext cx="384048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1527048"/>
            <a:ext cx="251460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72968" y="1527048"/>
            <a:ext cx="77724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50208" y="1527048"/>
            <a:ext cx="566928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17136" y="1527048"/>
            <a:ext cx="699516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1527048"/>
            <a:ext cx="38404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1527048"/>
            <a:ext cx="2423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icache 共享分区表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72968" y="1527048"/>
            <a:ext cx="777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59936" y="1559052"/>
            <a:ext cx="310896" cy="17373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59936" y="1559052"/>
            <a:ext cx="31089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1527048"/>
            <a:ext cx="6903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595959"/>
                </a:solidFill>
                <a:latin typeface="微软雅黑"/>
              </a:rPr>
              <a:t>cell表移入跨核共享段; period toggle原位清零跨核失效; 无探针状态/无排空握手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764792"/>
            <a:ext cx="384048" cy="237744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1764792"/>
            <a:ext cx="2514600" cy="237744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172968" y="1764792"/>
            <a:ext cx="777240" cy="237744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50208" y="1764792"/>
            <a:ext cx="566928" cy="237744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17136" y="1764792"/>
            <a:ext cx="6995160" cy="237744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1764792"/>
            <a:ext cx="38404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" y="1764792"/>
            <a:ext cx="2423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在线 PGO 分层编译 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72968" y="1764792"/>
            <a:ext cx="777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59936" y="1796796"/>
            <a:ext cx="310896" cy="17373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936" y="1796796"/>
            <a:ext cx="31089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6" y="1764792"/>
            <a:ext cx="6903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C5282"/>
                </a:solidFill>
                <a:latin typeface="微软雅黑"/>
              </a:rPr>
              <a:t>Tier-1临时采样→Tier-2带profile特化重编译; 并发暂存+SRE加固; Tier-2分批发布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2002536"/>
            <a:ext cx="384048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368" y="2002536"/>
            <a:ext cx="251460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72968" y="2002536"/>
            <a:ext cx="77724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50208" y="2002536"/>
            <a:ext cx="566928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17136" y="2002536"/>
            <a:ext cx="699516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2002536"/>
            <a:ext cx="38404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" y="2002536"/>
            <a:ext cx="2423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PGO 值剖析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72968" y="2002536"/>
            <a:ext cx="777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59936" y="2034540"/>
            <a:ext cx="310896" cy="173736"/>
          </a:xfrm>
          <a:prstGeom prst="rect">
            <a:avLst/>
          </a:prstGeom>
          <a:solidFill>
            <a:srgbClr val="D69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59936" y="2034540"/>
            <a:ext cx="31089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62856" y="2002536"/>
            <a:ext cx="6903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595959"/>
                </a:solidFill>
                <a:latin typeface="微软雅黑"/>
              </a:rPr>
              <a:t>3类site: 间接调用目标/memop大小/循环界; guard特化+通用fallback; 默认OFF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2240280"/>
            <a:ext cx="384048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58368" y="2240280"/>
            <a:ext cx="2514600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172968" y="2240280"/>
            <a:ext cx="777240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950208" y="2240280"/>
            <a:ext cx="566928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17136" y="2240280"/>
            <a:ext cx="6995160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2240280"/>
            <a:ext cx="38404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㉛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8" y="2240280"/>
            <a:ext cx="2423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PGO 冷回收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72968" y="2240280"/>
            <a:ext cx="777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59936" y="2272284"/>
            <a:ext cx="310896" cy="17373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059936" y="2272284"/>
            <a:ext cx="31089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62856" y="2240280"/>
            <a:ext cx="6903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595959"/>
                </a:solidFill>
                <a:latin typeface="微软雅黑"/>
              </a:rPr>
              <a:t>超时回收无进展采样槽+suppression表(128); 生命周期边界自动恢复; 状态&lt;512KiB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2478024"/>
            <a:ext cx="384048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58368" y="2478024"/>
            <a:ext cx="251460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172968" y="2478024"/>
            <a:ext cx="77724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950208" y="2478024"/>
            <a:ext cx="566928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17136" y="2478024"/>
            <a:ext cx="699516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2478024"/>
            <a:ext cx="38404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4088" y="2478024"/>
            <a:ext cx="2423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维度绑定指针 bound_ptr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72968" y="2478024"/>
            <a:ext cx="777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3182CE"/>
                </a:solidFill>
                <a:latin typeface="微软雅黑"/>
              </a:rPr>
              <a:t>前端+AOT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059936" y="2510028"/>
            <a:ext cx="310896" cy="17373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59936" y="2510028"/>
            <a:ext cx="31089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62856" y="2478024"/>
            <a:ext cx="6903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595959"/>
                </a:solidFill>
                <a:latin typeface="微软雅黑"/>
              </a:rPr>
              <a:t>EJIT_BOUND_PTR绑定EJIT_DIM参数; 无需全局数组名; 多指针借用+指针facts特化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2715768"/>
            <a:ext cx="384048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58368" y="2715768"/>
            <a:ext cx="2514600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72968" y="2715768"/>
            <a:ext cx="777240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950208" y="2715768"/>
            <a:ext cx="566928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517136" y="2715768"/>
            <a:ext cx="6995160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2715768"/>
            <a:ext cx="38404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㉝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4088" y="2715768"/>
            <a:ext cx="2423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free_dim 自由维度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172968" y="2715768"/>
            <a:ext cx="777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3182CE"/>
                </a:solidFill>
                <a:latin typeface="微软雅黑"/>
              </a:rPr>
              <a:t>前端+AOT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059936" y="2747772"/>
            <a:ext cx="310896" cy="17373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059936" y="2747772"/>
            <a:ext cx="31089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62856" y="2715768"/>
            <a:ext cx="6903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595959"/>
                </a:solidFill>
                <a:latin typeface="微软雅黑"/>
              </a:rPr>
              <a:t>标注may_const数据不依赖的索引; GEP全常量折叠; 解决non-const-offset不可寻址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2953512"/>
            <a:ext cx="384048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8368" y="2953512"/>
            <a:ext cx="251460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172968" y="2953512"/>
            <a:ext cx="77724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950208" y="2953512"/>
            <a:ext cx="566928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517136" y="2953512"/>
            <a:ext cx="699516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20" y="2953512"/>
            <a:ext cx="38404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㉞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4088" y="2953512"/>
            <a:ext cx="2423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may_const 收益排序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172968" y="2953512"/>
            <a:ext cx="777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059936" y="2985516"/>
            <a:ext cx="310896" cy="17373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059936" y="2985516"/>
            <a:ext cx="31089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62856" y="2953512"/>
            <a:ext cx="6903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595959"/>
                </a:solidFill>
                <a:latin typeface="微软雅黑"/>
              </a:rPr>
              <a:t>按活跃站点/运行时影响排序; 请求转发owner核; 聚焦高价值特化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3191256"/>
            <a:ext cx="384048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8368" y="3191256"/>
            <a:ext cx="2514600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172968" y="3191256"/>
            <a:ext cx="777240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950208" y="3191256"/>
            <a:ext cx="566928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517136" y="3191256"/>
            <a:ext cx="6995160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4320" y="3191256"/>
            <a:ext cx="38404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㉟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04088" y="3191256"/>
            <a:ext cx="2423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bitcode 闭包瘦身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172968" y="3191256"/>
            <a:ext cx="777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059936" y="3223260"/>
            <a:ext cx="310896" cy="17373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059936" y="3223260"/>
            <a:ext cx="31089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62856" y="3191256"/>
            <a:ext cx="6903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595959"/>
                </a:solidFill>
                <a:latin typeface="微软雅黑"/>
              </a:rPr>
              <a:t>内联后外链化: 大闭包helper外部化+显式注册; 与finline-hint标注驱动哲学一致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3429000"/>
            <a:ext cx="384048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58368" y="3429000"/>
            <a:ext cx="251460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172968" y="3429000"/>
            <a:ext cx="77724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950208" y="3429000"/>
            <a:ext cx="566928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517136" y="3429000"/>
            <a:ext cx="699516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74320" y="3429000"/>
            <a:ext cx="38404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㊱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4088" y="3429000"/>
            <a:ext cx="2423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may_const 替换验证器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172968" y="3429000"/>
            <a:ext cx="777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059936" y="3461004"/>
            <a:ext cx="310896" cy="173736"/>
          </a:xfrm>
          <a:prstGeom prst="rect">
            <a:avLst/>
          </a:prstGeom>
          <a:solidFill>
            <a:srgbClr val="D69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059936" y="3461004"/>
            <a:ext cx="31089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⚙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62856" y="3429000"/>
            <a:ext cx="6903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595959"/>
                </a:solidFill>
                <a:latin typeface="微软雅黑"/>
              </a:rPr>
              <a:t>EJIT_VERIFY_SUBSTITUTION运行时校验替换正确性; 默认OFF零开销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3666744"/>
            <a:ext cx="384048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58368" y="3666744"/>
            <a:ext cx="2514600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172968" y="3666744"/>
            <a:ext cx="777240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950208" y="3666744"/>
            <a:ext cx="566928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17136" y="3666744"/>
            <a:ext cx="6995160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74320" y="3666744"/>
            <a:ext cx="38404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㊲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04088" y="3666744"/>
            <a:ext cx="2423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函数体周期计时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172968" y="3666744"/>
            <a:ext cx="777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059936" y="3698748"/>
            <a:ext cx="310896" cy="173736"/>
          </a:xfrm>
          <a:prstGeom prst="rect">
            <a:avLst/>
          </a:prstGeom>
          <a:solidFill>
            <a:srgbClr val="D69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059936" y="3698748"/>
            <a:ext cx="31089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⚙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62856" y="3666744"/>
            <a:ext cx="6903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595959"/>
                </a:solidFill>
                <a:latin typeface="微软雅黑"/>
              </a:rPr>
              <a:t>AOT/JIT body cycles对比+wrapper开销; musttail保形; -ejit-function-body-timing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" y="3904488"/>
            <a:ext cx="384048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58368" y="3904488"/>
            <a:ext cx="251460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172968" y="3904488"/>
            <a:ext cx="77724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950208" y="3904488"/>
            <a:ext cx="566928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4517136" y="3904488"/>
            <a:ext cx="699516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74320" y="3904488"/>
            <a:ext cx="38404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㊳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04088" y="3904488"/>
            <a:ext cx="2423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分支剖析审计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72968" y="3904488"/>
            <a:ext cx="777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059936" y="3936492"/>
            <a:ext cx="310896" cy="173736"/>
          </a:xfrm>
          <a:prstGeom prst="rect">
            <a:avLst/>
          </a:prstGeom>
          <a:solidFill>
            <a:srgbClr val="D69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059936" y="3936492"/>
            <a:ext cx="31089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⚙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562856" y="3904488"/>
            <a:ext cx="6903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595959"/>
                </a:solidFill>
                <a:latin typeface="微软雅黑"/>
              </a:rPr>
              <a:t>复用Tier-1计数器; 95%/60%偏置统计; 找无优化机会标注; CMake默认OFF(aarch64_be预设开启)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74320" y="4142232"/>
            <a:ext cx="384048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58368" y="4142232"/>
            <a:ext cx="2514600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172968" y="4142232"/>
            <a:ext cx="777240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950208" y="4142232"/>
            <a:ext cx="566928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517136" y="4142232"/>
            <a:ext cx="6995160" cy="237744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4142232"/>
            <a:ext cx="38404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㊴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04088" y="4142232"/>
            <a:ext cx="2423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诊断体系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172968" y="4142232"/>
            <a:ext cx="777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059936" y="4174236"/>
            <a:ext cx="310896" cy="17373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059936" y="4174236"/>
            <a:ext cx="31089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562856" y="4142232"/>
            <a:ext cx="6903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595959"/>
                </a:solidFill>
                <a:latin typeface="微软雅黑"/>
              </a:rPr>
              <a:t>日志级别OFF/INFO/VERBOSE/DEBUG; IR/ASM dump; print_compiled; SRE安全节流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74320" y="4379976"/>
            <a:ext cx="384048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58368" y="4379976"/>
            <a:ext cx="251460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172968" y="4379976"/>
            <a:ext cx="77724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950208" y="4379976"/>
            <a:ext cx="566928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517136" y="4379976"/>
            <a:ext cx="699516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74320" y="4379976"/>
            <a:ext cx="38404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㊵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04088" y="4379976"/>
            <a:ext cx="2423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LLVM 后端裁剪增强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172968" y="4379976"/>
            <a:ext cx="777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059936" y="4411980"/>
            <a:ext cx="310896" cy="17373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059936" y="4411980"/>
            <a:ext cx="31089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562856" y="4379976"/>
            <a:ext cx="6903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595959"/>
                </a:solidFill>
                <a:latin typeface="微软雅黑"/>
              </a:rPr>
              <a:t>MachineVerifier/文本asm/MCInstPrinter/指令名表/per-CPU调度表 strip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4320" y="4727448"/>
            <a:ext cx="3749039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274320" y="4727448"/>
            <a:ext cx="64008" cy="86868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38912" y="4791456"/>
            <a:ext cx="34747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性能主线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38912" y="5074920"/>
            <a:ext cx="34747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icache 4指令命中路径 · 在线PGO双tier · 固定语义代码池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160519" y="4727448"/>
            <a:ext cx="3749039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160519" y="4727448"/>
            <a:ext cx="64008" cy="868680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325111" y="4791456"/>
            <a:ext cx="34747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特化面扩展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325111" y="5074920"/>
            <a:ext cx="34747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bound_ptr / free_dim 标注驱动 · 收益排序 · bitcode闭包瘦身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046718" y="4727448"/>
            <a:ext cx="3749039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46718" y="4727448"/>
            <a:ext cx="64008" cy="868680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211310" y="4791456"/>
            <a:ext cx="34747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质量护栏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211310" y="5074920"/>
            <a:ext cx="34747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替换验证器 · 函数体计时 · 分支审计 · 诊断体系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4320" y="5733288"/>
            <a:ext cx="1161288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457200" y="5733288"/>
            <a:ext cx="11430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图例:  </a:t>
            </a:r>
            <a:r>
              <a:rPr sz="11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50" b="0">
                <a:solidFill>
                  <a:srgbClr val="595959"/>
                </a:solidFill>
                <a:latin typeface="微软雅黑"/>
              </a:rPr>
              <a:t> 已实现使用(34)   </a:t>
            </a:r>
            <a:r>
              <a:rPr sz="1100" b="1">
                <a:solidFill>
                  <a:srgbClr val="D69E2E"/>
                </a:solidFill>
                <a:latin typeface="微软雅黑"/>
              </a:rPr>
              <a:t>⚙</a:t>
            </a:r>
            <a:r>
              <a:rPr sz="950" b="0">
                <a:solidFill>
                  <a:srgbClr val="595959"/>
                </a:solidFill>
                <a:latin typeface="微软雅黑"/>
              </a:rPr>
              <a:t> 默认OFF实验(4)   </a:t>
            </a:r>
            <a:r>
              <a:rPr sz="1100" b="1">
                <a:solidFill>
                  <a:srgbClr val="DD6B20"/>
                </a:solidFill>
                <a:latin typeface="微软雅黑"/>
              </a:rPr>
              <a:t>△</a:t>
            </a:r>
            <a:r>
              <a:rPr sz="950" b="0">
                <a:solidFill>
                  <a:srgbClr val="595959"/>
                </a:solidFill>
                <a:latin typeface="微软雅黑"/>
              </a:rPr>
              <a:t> 待真机验证(2)   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 测试体系:  </a:t>
            </a:r>
            <a:r>
              <a:rPr sz="950" b="1">
                <a:solidFill>
                  <a:srgbClr val="2C5282"/>
                </a:solidFill>
                <a:latin typeface="微软雅黑"/>
              </a:rPr>
              <a:t>55 AOT lit · 14 Clang lit · 16 gtest · 42 集成C用例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D3748"/>
                </a:solidFill>
                <a:latin typeface="微软雅黑"/>
              </a:rPr>
              <a:t>EJIT 后续工作规划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从代码完成 → 真机验证 → 性能收益 → 可交付工程化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12191695" cy="13716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96112"/>
            <a:ext cx="11567160" cy="45720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96112"/>
            <a:ext cx="11567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</a:rPr>
              <a:t>目标: 形成可复现的 EJIT 闭环证据链 —— 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真机可跑</a:t>
            </a:r>
            <a:r>
              <a:rPr sz="1150" b="1">
                <a:solidFill>
                  <a:srgbClr val="FFFFFF"/>
                </a:solidFill>
                <a:latin typeface="微软雅黑"/>
              </a:rPr>
              <a:t> / 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收益可量化</a:t>
            </a:r>
            <a:r>
              <a:rPr sz="1150" b="1">
                <a:solidFill>
                  <a:srgbClr val="FFFFFF"/>
                </a:solidFill>
                <a:latin typeface="微软雅黑"/>
              </a:rPr>
              <a:t> / 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交付可裁剪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11567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64008" cy="47548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463040"/>
            <a:ext cx="11292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Q3 已交付 (07~09):  </a:t>
            </a:r>
            <a:r>
              <a:rPr sz="950" b="1">
                <a:solidFill>
                  <a:srgbClr val="38A16F"/>
                </a:solidFill>
                <a:latin typeface="微软雅黑"/>
              </a:rPr>
              <a:t>在线PGO双tier · icache多版本+共享表 · bound_ptr+free_dim · bitcode闭包瘦身 · 替换验证器/计时/审计 · 诊断体系+后端裁剪增强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84831"/>
            <a:ext cx="3733800" cy="38404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084831"/>
            <a:ext cx="35143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近期：验证闭环</a:t>
            </a:r>
            <a:r>
              <a:rPr sz="1000" b="0">
                <a:solidFill>
                  <a:srgbClr val="FFFFFF"/>
                </a:solidFill>
                <a:latin typeface="微软雅黑"/>
              </a:rPr>
              <a:t>  ·  </a:t>
            </a:r>
            <a:r>
              <a:rPr sz="1000" b="1">
                <a:solidFill>
                  <a:srgbClr val="E8F2FF"/>
                </a:solidFill>
                <a:latin typeface="微软雅黑"/>
              </a:rPr>
              <a:t>2~4 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87751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587751"/>
            <a:ext cx="64008" cy="65836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" y="2715767"/>
            <a:ext cx="310896" cy="31089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" y="2715767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2651759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SRE/AArch64 真机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898647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共享taskpool/icache/在线PGO多核验证, 裸核链接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19271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19271"/>
            <a:ext cx="64008" cy="65836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" y="3447287"/>
            <a:ext cx="310896" cy="31089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" y="3447287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383279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代码池真机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630167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4K-seal / near-hot语义池边界、发布与fallback行为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050791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050791"/>
            <a:ext cx="64008" cy="65836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" y="4178807"/>
            <a:ext cx="310896" cy="31089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" y="4178807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4114799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诊断闭环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4361687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IR/ASM dump + 函数体计时定位真机热点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782311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782311"/>
            <a:ext cx="64008" cy="65836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6344" y="4910327"/>
            <a:ext cx="310896" cy="31089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" y="4910327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4846319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业务场景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093207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bound_ptr/free_dim 覆盖真实配置结构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36720" y="2084831"/>
            <a:ext cx="3733800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6448" y="2084831"/>
            <a:ext cx="35143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中期：收益量化</a:t>
            </a:r>
            <a:r>
              <a:rPr sz="1000" b="0">
                <a:solidFill>
                  <a:srgbClr val="FFFFFF"/>
                </a:solidFill>
                <a:latin typeface="微软雅黑"/>
              </a:rPr>
              <a:t>  ·  </a:t>
            </a:r>
            <a:r>
              <a:rPr sz="1000" b="1">
                <a:solidFill>
                  <a:srgbClr val="E8F2FF"/>
                </a:solidFill>
                <a:latin typeface="微软雅黑"/>
              </a:rPr>
              <a:t>1~2 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36720" y="2587751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36720" y="2587751"/>
            <a:ext cx="64008" cy="65836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83024" y="2715767"/>
            <a:ext cx="310896" cy="310896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3024" y="2715767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7072" y="2651759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Benchmark 体系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67072" y="2898647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PGO Tier-2加速比 / icache命中率 / 编译耗时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36720" y="3319271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36720" y="3319271"/>
            <a:ext cx="64008" cy="65836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83024" y="3447287"/>
            <a:ext cx="310896" cy="310896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3024" y="3447287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7072" y="3383279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调参策略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67072" y="3630167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L1/L2/L3 pipeline、缓存上限、PGO阈值+冷回收timeout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36720" y="4050791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36720" y="4050791"/>
            <a:ext cx="64008" cy="65836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83024" y="4178807"/>
            <a:ext cx="310896" cy="310896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3024" y="4178807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67072" y="4114799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值剖析评估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67072" y="4361687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开启代价 vs 收益, 决定是否默认化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36720" y="4782311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36720" y="4782311"/>
            <a:ext cx="64008" cy="65836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83024" y="4910327"/>
            <a:ext cx="310896" cy="310896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3024" y="4910327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67072" y="4846319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裁剪体积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67072" y="5093207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单 ejit.o 继续瘦身: PassBuilder/Target/JITLink 收敛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53400" y="2084831"/>
            <a:ext cx="3733800" cy="38404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63128" y="2084831"/>
            <a:ext cx="35143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远期：工程交付</a:t>
            </a:r>
            <a:r>
              <a:rPr sz="1000" b="0">
                <a:solidFill>
                  <a:srgbClr val="FFFFFF"/>
                </a:solidFill>
                <a:latin typeface="微软雅黑"/>
              </a:rPr>
              <a:t>  ·  </a:t>
            </a:r>
            <a:r>
              <a:rPr sz="1000" b="1">
                <a:solidFill>
                  <a:srgbClr val="E8F2FF"/>
                </a:solidFill>
                <a:latin typeface="微软雅黑"/>
              </a:rPr>
              <a:t>季度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53400" y="2587751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153400" y="2587751"/>
            <a:ext cx="64008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99704" y="2715767"/>
            <a:ext cx="310896" cy="310896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99704" y="2715767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3752" y="2651759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平台抽象固化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3752" y="2898647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host/SRE/bare-metal 三套配置稳定化与文档化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53400" y="3319271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153400" y="3319271"/>
            <a:ext cx="64008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99704" y="3447287"/>
            <a:ext cx="310896" cy="310896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9704" y="3447287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83752" y="3383279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诊断与可观测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3752" y="3630167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trace/dump/错误码/统计 counters 统一输出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53400" y="4050791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153400" y="4050791"/>
            <a:ext cx="64008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299704" y="4178807"/>
            <a:ext cx="310896" cy="310896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9704" y="4178807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3752" y="4114799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安全护栏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83752" y="4361687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注册冻结、符号白名单、内存权限切换与越界保护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153400" y="4782311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53400" y="4782311"/>
            <a:ext cx="64008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99704" y="4910327"/>
            <a:ext cx="310896" cy="310896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9704" y="4910327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83752" y="4846319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论文/专利材料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3752" y="5093207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时间窗常量+运行时特化+在线PGO+裁剪JIT体系化总结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0040" y="5394960"/>
            <a:ext cx="11567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D3748"/>
                </a:solidFill>
                <a:latin typeface="微软雅黑"/>
              </a:rPr>
              <a:t>▎阶段性交付物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" y="5650992"/>
            <a:ext cx="278892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20040" y="5650992"/>
            <a:ext cx="54864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4632" y="5705856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真机验证报告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4632" y="5980176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SRE 多核 / 裸核 / fallback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46120" y="5650992"/>
            <a:ext cx="278892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246120" y="5650992"/>
            <a:ext cx="54864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410712" y="5705856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性能收益表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410712" y="5980176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命中率 / 耗时 / 加速比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72200" y="5650992"/>
            <a:ext cx="278892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172200" y="5650992"/>
            <a:ext cx="54864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36792" y="5705856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裁剪构建包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36792" y="5980176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LLVMEJIT.a / 单 ejit.o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098280" y="5650992"/>
            <a:ext cx="278892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98280" y="5650992"/>
            <a:ext cx="54864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262872" y="5705856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可复现 Demo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262872" y="5980176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脚本 + 测试 + 文档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D3748"/>
                </a:solidFill>
                <a:latin typeface="微软雅黑"/>
              </a:rPr>
              <a:t>编译器的技术规划与畅想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AI × 传统编译器 · 用 AI 改造编译器本身 · 18 方向总评榜已归档 (ai4compiler 分支, 2026-06)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12191695" cy="13716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96112"/>
            <a:ext cx="11567160" cy="45720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96112"/>
            <a:ext cx="11567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</a:rPr>
              <a:t>用 AI 改造传统编译器本身（而非用编译器服务 AI）· 两大落点：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① 产出更优代码（性能）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   ② 自身/产物更小更快（小型化）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44752"/>
            <a:ext cx="5715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D3748"/>
                </a:solidFill>
                <a:latin typeface="微软雅黑"/>
              </a:rPr>
              <a:t>▎渐进落地方向 (9) · 总评榜等级: 夯/顶级/人上人/NPC/拉完了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19072"/>
            <a:ext cx="5715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182CE"/>
                </a:solidFill>
                <a:latin typeface="微软雅黑"/>
              </a:rPr>
              <a:t>性能优化（让编译器产出更优代码）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38528"/>
            <a:ext cx="57150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938528"/>
            <a:ext cx="64008" cy="3383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1938528"/>
            <a:ext cx="25603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C5282"/>
                </a:solidFill>
                <a:latin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1938528"/>
            <a:ext cx="19202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学习型 Inliner 可解释化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4" y="1938528"/>
            <a:ext cx="5669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1">
                <a:solidFill>
                  <a:srgbClr val="595959"/>
                </a:solidFill>
                <a:latin typeface="微软雅黑"/>
              </a:rPr>
              <a:t>NPC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938528"/>
            <a:ext cx="269748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蒸馏MLGO黑盒→决策树规则, 可审计/可移植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04288"/>
            <a:ext cx="57150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304288"/>
            <a:ext cx="64008" cy="3383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" y="2304288"/>
            <a:ext cx="25603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C5282"/>
                </a:solidFill>
                <a:latin typeface="微软雅黑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2304288"/>
            <a:ext cx="19202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LLM Superoptimizer 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0904" y="2304288"/>
            <a:ext cx="5669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1">
                <a:solidFill>
                  <a:srgbClr val="3182CE"/>
                </a:solidFill>
                <a:latin typeface="微软雅黑"/>
              </a:rPr>
              <a:t>顶级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304288"/>
            <a:ext cx="269748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LLM propose + Alive2 verify, 重写10-30条指令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670048"/>
            <a:ext cx="57150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670048"/>
            <a:ext cx="64008" cy="3383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" y="2670048"/>
            <a:ext cx="25603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C5282"/>
                </a:solidFill>
                <a:latin typeface="微软雅黑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670048"/>
            <a:ext cx="19202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神经代价模型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2670048"/>
            <a:ext cx="5669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1">
                <a:solidFill>
                  <a:srgbClr val="38A16F"/>
                </a:solidFill>
                <a:latin typeface="微软雅黑"/>
              </a:rPr>
              <a:t>人上人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2670048"/>
            <a:ext cx="269748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替代RegAlloc/Scheduler启发式(异构硬件撑不住)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035808"/>
            <a:ext cx="57150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035808"/>
            <a:ext cx="64008" cy="3383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" y="3035808"/>
            <a:ext cx="25603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C5282"/>
                </a:solidFill>
                <a:latin typeface="微软雅黑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3035808"/>
            <a:ext cx="19202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PGO 无 profile 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0904" y="3035808"/>
            <a:ext cx="5669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1">
                <a:solidFill>
                  <a:srgbClr val="595959"/>
                </a:solidFill>
                <a:latin typeface="微软雅黑"/>
              </a:rPr>
              <a:t>NPC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3035808"/>
            <a:ext cx="269748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GNN预测分支频次, 让PGO民主化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401568"/>
            <a:ext cx="57150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3401568"/>
            <a:ext cx="64008" cy="3383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" y="3401568"/>
            <a:ext cx="25603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C5282"/>
                </a:solidFill>
                <a:latin typeface="微软雅黑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3401568"/>
            <a:ext cx="19202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自动发掘 Combine 规则 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3401568"/>
            <a:ext cx="5669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1">
                <a:solidFill>
                  <a:srgbClr val="38A16F"/>
                </a:solidFill>
                <a:latin typeface="微软雅黑"/>
              </a:rPr>
              <a:t>人上人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3401568"/>
            <a:ext cx="269748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扫手写汇编diff, 自动产真实LLVM patch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3794760"/>
            <a:ext cx="5715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182CE"/>
                </a:solidFill>
                <a:latin typeface="微软雅黑"/>
              </a:rPr>
              <a:t>小型化（编译器自身/产物更小更快）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014216"/>
            <a:ext cx="57150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4014216"/>
            <a:ext cx="64008" cy="3383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" y="4014216"/>
            <a:ext cx="25603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C5282"/>
                </a:solidFill>
                <a:latin typeface="微软雅黑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" y="4014216"/>
            <a:ext cx="19202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学习型 Size Opt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4014216"/>
            <a:ext cx="5669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1">
                <a:solidFill>
                  <a:srgbClr val="595959"/>
                </a:solidFill>
                <a:latin typeface="微软雅黑"/>
              </a:rPr>
              <a:t>NPC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6120" y="4014216"/>
            <a:ext cx="269748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-Oz继承者, MLGO换size reward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379976"/>
            <a:ext cx="57150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4379976"/>
            <a:ext cx="64008" cy="3383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" y="4379976"/>
            <a:ext cx="25603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C5282"/>
                </a:solidFill>
                <a:latin typeface="微软雅黑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" y="4379976"/>
            <a:ext cx="19202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LTO学习型死代码消除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60904" y="4379976"/>
            <a:ext cx="5669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1">
                <a:solidFill>
                  <a:srgbClr val="C04E4E"/>
                </a:solidFill>
                <a:latin typeface="微软雅黑"/>
              </a:rPr>
              <a:t>拉完了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46120" y="4379976"/>
            <a:ext cx="269748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误删=crash; 仅退化为冷代码后置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745736"/>
            <a:ext cx="57150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0040" y="4745736"/>
            <a:ext cx="64008" cy="3383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6344" y="4745736"/>
            <a:ext cx="25603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C5282"/>
                </a:solidFill>
                <a:latin typeface="微软雅黑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" y="4745736"/>
            <a:ext cx="19202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AI辅助Pass删除/瘦身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60904" y="4745736"/>
            <a:ext cx="5669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1">
                <a:solidFill>
                  <a:srgbClr val="595959"/>
                </a:solidFill>
                <a:latin typeface="微软雅黑"/>
              </a:rPr>
              <a:t>NPC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46120" y="4745736"/>
            <a:ext cx="269748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定制PassManager + 裁剪编译器binary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111496"/>
            <a:ext cx="57150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0040" y="5111496"/>
            <a:ext cx="64008" cy="3383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6344" y="5111496"/>
            <a:ext cx="256032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C5282"/>
                </a:solidFill>
                <a:latin typeface="微软雅黑"/>
              </a:rPr>
              <a:t>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6" y="5111496"/>
            <a:ext cx="19202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D3748"/>
                </a:solidFill>
                <a:latin typeface="微软雅黑"/>
              </a:rPr>
              <a:t>IR 学习型压缩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60904" y="5111496"/>
            <a:ext cx="56692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1">
                <a:solidFill>
                  <a:srgbClr val="C04E4E"/>
                </a:solidFill>
                <a:latin typeface="微软雅黑"/>
              </a:rPr>
              <a:t>拉完了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46120" y="5111496"/>
            <a:ext cx="269748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解压须快于传输; 仅zstd字典有ROI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1444752"/>
            <a:ext cx="5669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D3748"/>
                </a:solidFill>
                <a:latin typeface="微软雅黑"/>
              </a:rPr>
              <a:t>▎颠覆性畅想 (精选 8) · 触及编译器根基假设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1719072"/>
            <a:ext cx="56692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17920" y="1719072"/>
            <a:ext cx="64008" cy="47548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45936" y="1792224"/>
            <a:ext cx="457200" cy="329184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45936" y="1792224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微软雅黑"/>
              </a:rPr>
              <a:t>夯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94576" y="1746504"/>
            <a:ext cx="4846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自演化编译器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94576" y="1965960"/>
            <a:ext cx="4846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编译时持续学习优化规则并固化进下版本, 传统编译器5年内或被淘汰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0" y="2231136"/>
            <a:ext cx="56692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17920" y="2231136"/>
            <a:ext cx="64008" cy="47548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45936" y="2304288"/>
            <a:ext cx="457200" cy="329184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45936" y="23042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微软雅黑"/>
              </a:rPr>
              <a:t>夯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94576" y="2258568"/>
            <a:ext cx="4846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Verified-by-Default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94576" y="2478024"/>
            <a:ext cx="4846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AI自动生成性质证明, 代码默认带形式化证书(无UB/data race)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17920" y="2743200"/>
            <a:ext cx="56692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17920" y="2743200"/>
            <a:ext cx="64008" cy="47548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345936" y="2816352"/>
            <a:ext cx="457200" cy="329184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45936" y="2816352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微软雅黑"/>
              </a:rPr>
              <a:t>顶级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94576" y="2770632"/>
            <a:ext cx="4846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端到端可微编译器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94576" y="2990088"/>
            <a:ext cx="4846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整条pipeline离散决策连续松弛, 端到端梯度优化运行时间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17920" y="3255264"/>
            <a:ext cx="56692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217920" y="3255264"/>
            <a:ext cx="64008" cy="47548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45936" y="3328416"/>
            <a:ext cx="457200" cy="329184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45936" y="3328416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微软雅黑"/>
              </a:rPr>
              <a:t>顶级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94576" y="3282696"/>
            <a:ext cx="4846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程序综合替代编译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94576" y="3502152"/>
            <a:ext cx="4846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编译器重写算法本身(O(n²)→O(n log n)), I/O等价+profile验证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17920" y="3767328"/>
            <a:ext cx="56692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217920" y="3767328"/>
            <a:ext cx="64008" cy="47548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345936" y="3840480"/>
            <a:ext cx="457200" cy="329184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45936" y="3840480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微软雅黑"/>
              </a:rPr>
              <a:t>顶级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94576" y="3794760"/>
            <a:ext cx="4846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神经符号混合 IR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94576" y="4014216"/>
            <a:ext cx="4846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IR节点可为神经嵌入, 中间阶段「模糊思考」后塌缩成符号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217920" y="4279392"/>
            <a:ext cx="56692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217920" y="4279392"/>
            <a:ext cx="64008" cy="47548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345936" y="4352544"/>
            <a:ext cx="457200" cy="329184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45936" y="4352544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微软雅黑"/>
              </a:rPr>
              <a:t>人上人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94576" y="4306824"/>
            <a:ext cx="4846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跨层联合优化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94576" y="4526280"/>
            <a:ext cx="4846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打破编译器/OS/硬件分层抽象, AI学跨层隐性接口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17920" y="4791456"/>
            <a:ext cx="56692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217920" y="4791456"/>
            <a:ext cx="64008" cy="47548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345936" y="4864608"/>
            <a:ext cx="457200" cy="329184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45936" y="486460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微软雅黑"/>
              </a:rPr>
              <a:t>人上人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94576" y="4818888"/>
            <a:ext cx="4846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多模态编译器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94576" y="5038344"/>
            <a:ext cx="4846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读代码+注释+commit+issue, 理解「程序意图」作优化信号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17920" y="5303520"/>
            <a:ext cx="56692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217920" y="5303520"/>
            <a:ext cx="64008" cy="47548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345936" y="5376672"/>
            <a:ext cx="457200" cy="329184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45936" y="5376672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微软雅黑"/>
              </a:rPr>
              <a:t>人上人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94576" y="5330952"/>
            <a:ext cx="4846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编译器即 OS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894576" y="5550408"/>
            <a:ext cx="4846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595959"/>
                </a:solidFill>
                <a:latin typeface="微软雅黑"/>
              </a:rPr>
              <a:t>取消编译时/运行时边界, 持续重编译热点, 多版本按场景dispatch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20040" y="5989320"/>
            <a:ext cx="11567160" cy="804672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20040" y="5989320"/>
            <a:ext cx="64008" cy="80467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84632" y="6025896"/>
            <a:ext cx="11292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▎推荐切入路径 (总评榜结论)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4632" y="6245352"/>
            <a:ext cx="11292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595959"/>
                </a:solidFill>
                <a:latin typeface="微软雅黑"/>
              </a:rPr>
              <a:t>① 快速出成果建声誉 → 自动挖Combine规则(每周真实LLVM patch)    ② 顶级且能毕业 → LLM Superoptimizer(Alive2兜底)    ③ 长跑 → 自演化 / Verified-by-Default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4632" y="6501384"/>
            <a:ext cx="11292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2C5282"/>
                </a:solidFill>
                <a:latin typeface="微软雅黑"/>
              </a:rPr>
              <a:t>EJIT 载体: 在线PGO/收益排序已是数据驱动编译工程实例; AIMV(AI多版本 · clang driver + MCP链路)早期集成已打通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